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2" r:id="rId19"/>
    <p:sldId id="273" r:id="rId20"/>
    <p:sldId id="274" r:id="rId21"/>
    <p:sldId id="275" r:id="rId22"/>
    <p:sldId id="276" r:id="rId23"/>
  </p:sldIdLst>
  <p:sldSz cx="18288000" cy="10287000"/>
  <p:notesSz cx="6858000" cy="9144000"/>
  <p:embeddedFontLst>
    <p:embeddedFont>
      <p:font typeface="Arial Nova" panose="020B0504020202020204" pitchFamily="34" charset="0"/>
      <p:regular r:id="rId24"/>
      <p:bold r:id="rId25"/>
    </p:embeddedFont>
    <p:embeddedFont>
      <p:font typeface="Arial Nova Bold" panose="020B0804020202020204" charset="0"/>
      <p:regular r:id="rId26"/>
    </p:embeddedFont>
    <p:embeddedFont>
      <p:font typeface="Arial Nova Italics" panose="020B0604020202020204" charset="0"/>
      <p:regular r:id="rId27"/>
    </p:embeddedFont>
    <p:embeddedFont>
      <p:font typeface="Canva Sans" panose="020B0604020202020204" charset="0"/>
      <p:regular r:id="rId28"/>
    </p:embeddedFont>
    <p:embeddedFont>
      <p:font typeface="Canva Sans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372145" y="-688803"/>
            <a:ext cx="12875124" cy="12758078"/>
          </a:xfrm>
          <a:custGeom>
            <a:avLst/>
            <a:gdLst/>
            <a:ahLst/>
            <a:cxnLst/>
            <a:rect l="l" t="t" r="r" b="b"/>
            <a:pathLst>
              <a:path w="12875124" h="12758078">
                <a:moveTo>
                  <a:pt x="12875125" y="0"/>
                </a:moveTo>
                <a:lnTo>
                  <a:pt x="0" y="0"/>
                </a:lnTo>
                <a:lnTo>
                  <a:pt x="0" y="12758077"/>
                </a:lnTo>
                <a:lnTo>
                  <a:pt x="12875125" y="12758077"/>
                </a:lnTo>
                <a:lnTo>
                  <a:pt x="1287512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758474" y="975994"/>
            <a:ext cx="17529526" cy="774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Evaluating the Impact of Univariate Mutual Information Feature Selection​</a:t>
            </a:r>
          </a:p>
          <a:p>
            <a:pPr algn="ctr">
              <a:lnSpc>
                <a:spcPts val="12319"/>
              </a:lnSpc>
            </a:pPr>
            <a:r>
              <a:rPr lang="en-US" sz="87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</a:t>
            </a:r>
          </a:p>
          <a:p>
            <a:pPr algn="ctr">
              <a:lnSpc>
                <a:spcPts val="12319"/>
              </a:lnSpc>
              <a:spcBef>
                <a:spcPct val="0"/>
              </a:spcBef>
            </a:pPr>
            <a:endParaRPr lang="en-US" sz="8799" b="1">
              <a:solidFill>
                <a:srgbClr val="014745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907612" y="6344285"/>
            <a:ext cx="11231249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dirty="0">
                <a:solidFill>
                  <a:srgbClr val="006B68"/>
                </a:solidFill>
                <a:latin typeface="Arial Nova"/>
                <a:ea typeface="Arial Nova"/>
                <a:cs typeface="Arial Nova"/>
                <a:sym typeface="Arial Nova"/>
              </a:rPr>
              <a:t>Machine Learning – CS6735​</a:t>
            </a:r>
          </a:p>
          <a:p>
            <a:pPr algn="ctr">
              <a:lnSpc>
                <a:spcPts val="4760"/>
              </a:lnSpc>
            </a:pPr>
            <a:r>
              <a:rPr lang="en-US" sz="3400" dirty="0">
                <a:solidFill>
                  <a:srgbClr val="006B68"/>
                </a:solidFill>
                <a:latin typeface="Arial Nova"/>
                <a:ea typeface="Arial Nova"/>
                <a:cs typeface="Arial Nova"/>
                <a:sym typeface="Arial Nova"/>
              </a:rPr>
              <a:t>Group Members:​</a:t>
            </a:r>
          </a:p>
          <a:p>
            <a:pPr algn="ctr">
              <a:lnSpc>
                <a:spcPts val="4760"/>
              </a:lnSpc>
            </a:pPr>
            <a:r>
              <a:rPr lang="en-US" sz="3400" dirty="0" err="1">
                <a:solidFill>
                  <a:srgbClr val="006B68"/>
                </a:solidFill>
                <a:latin typeface="Arial Nova"/>
                <a:ea typeface="Arial Nova"/>
                <a:cs typeface="Arial Nova"/>
                <a:sym typeface="Arial Nova"/>
              </a:rPr>
              <a:t>Shithi</a:t>
            </a:r>
            <a:r>
              <a:rPr lang="en-US" sz="3400" dirty="0">
                <a:solidFill>
                  <a:srgbClr val="006B68"/>
                </a:solidFill>
                <a:latin typeface="Arial Nova"/>
                <a:ea typeface="Arial Nova"/>
                <a:cs typeface="Arial Nova"/>
                <a:sym typeface="Arial Nova"/>
              </a:rPr>
              <a:t> Sharma Bindu- 3808290 ​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006B68"/>
                </a:solidFill>
                <a:latin typeface="Arial Nova"/>
                <a:ea typeface="Arial Nova"/>
                <a:cs typeface="Arial Nova"/>
                <a:sym typeface="Arial Nova"/>
              </a:rPr>
              <a:t>Dewni </a:t>
            </a:r>
            <a:r>
              <a:rPr lang="en-US" sz="3400" dirty="0" err="1">
                <a:solidFill>
                  <a:srgbClr val="006B68"/>
                </a:solidFill>
                <a:latin typeface="Arial Nova"/>
                <a:ea typeface="Arial Nova"/>
                <a:cs typeface="Arial Nova"/>
                <a:sym typeface="Arial Nova"/>
              </a:rPr>
              <a:t>Pabasara</a:t>
            </a:r>
            <a:r>
              <a:rPr lang="en-US" sz="3400" dirty="0">
                <a:solidFill>
                  <a:srgbClr val="006B68"/>
                </a:solidFill>
                <a:latin typeface="Arial Nova"/>
                <a:ea typeface="Arial Nova"/>
                <a:cs typeface="Arial Nova"/>
                <a:sym typeface="Arial Nova"/>
              </a:rPr>
              <a:t> Deraniyagala- 3796573 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10565" flipH="1">
            <a:off x="-5159504" y="-67690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314450" y="868556"/>
            <a:ext cx="9324482" cy="800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Outline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5729" y="1881505"/>
            <a:ext cx="10873807" cy="840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Motivation​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What is Mutual Information?​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What is Univariate Mutual Information?​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Why is it called Univariate?​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Entropy: The Building Block​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Mathematical Definition​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Examples​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Advantages of UMI​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Limitations of UMI​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Comparison with other Feature Selection Methods​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Project Objectives &amp; Dataset Preparation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Methodology and Experimental Setup​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Summary​</a:t>
            </a:r>
          </a:p>
          <a:p>
            <a:pPr marL="690877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6B68">
                    <a:alpha val="80000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References​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006B68">
                  <a:alpha val="80000"/>
                </a:srgbClr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1476122" y="-7154202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171541" y="2622396"/>
            <a:ext cx="15925868" cy="7819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3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datasets often contain a large number of features, and not all features are useful for prediction.​</a:t>
            </a:r>
          </a:p>
          <a:p>
            <a:pPr marL="734053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Many features may be:​ Irrelevant to the target​ and redundant with other features​</a:t>
            </a:r>
          </a:p>
          <a:p>
            <a:pPr marL="734053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dimensionality can:​ Reduce classifier performance​, increase overfitting​ and increase computation time​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selection aims to:​ Improve accuracy and generalization​, reduce complexity​ and improve interpretability​</a:t>
            </a:r>
          </a:p>
          <a:p>
            <a:pPr marL="734053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 main categories:​ Filter methods, Wrapper methods &amp; Embedded methods​</a:t>
            </a:r>
          </a:p>
          <a:p>
            <a:pPr marL="734053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Univariate Mutual Information belongs to filter-based feature selection​</a:t>
            </a:r>
          </a:p>
          <a:p>
            <a:pPr algn="just">
              <a:lnSpc>
                <a:spcPts val="4759"/>
              </a:lnSpc>
            </a:pPr>
            <a:endParaRPr lang="en-US" sz="3399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759"/>
              </a:lnSpc>
              <a:spcBef>
                <a:spcPct val="0"/>
              </a:spcBef>
            </a:pPr>
            <a:endParaRPr lang="en-US" sz="3399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5486663" y="392049"/>
            <a:ext cx="1969088" cy="1780383"/>
          </a:xfrm>
          <a:custGeom>
            <a:avLst/>
            <a:gdLst/>
            <a:ahLst/>
            <a:cxnLst/>
            <a:rect l="l" t="t" r="r" b="b"/>
            <a:pathLst>
              <a:path w="1969088" h="1780383">
                <a:moveTo>
                  <a:pt x="0" y="0"/>
                </a:moveTo>
                <a:lnTo>
                  <a:pt x="1969088" y="0"/>
                </a:lnTo>
                <a:lnTo>
                  <a:pt x="1969088" y="1780383"/>
                </a:lnTo>
                <a:lnTo>
                  <a:pt x="0" y="1780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7455751" y="743760"/>
            <a:ext cx="9324482" cy="96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Motivation​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59031"/>
            <a:ext cx="10870161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What is Mutual Information (MI)?​</a:t>
            </a:r>
          </a:p>
        </p:txBody>
      </p:sp>
      <p:sp>
        <p:nvSpPr>
          <p:cNvPr id="3" name="Freeform 3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rot="9815125" flipH="1">
            <a:off x="7281109" y="8945003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7" y="0"/>
                </a:moveTo>
                <a:lnTo>
                  <a:pt x="0" y="0"/>
                </a:lnTo>
                <a:lnTo>
                  <a:pt x="0" y="9324630"/>
                </a:lnTo>
                <a:lnTo>
                  <a:pt x="10319007" y="9324630"/>
                </a:lnTo>
                <a:lnTo>
                  <a:pt x="103190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3178561" y="701488"/>
            <a:ext cx="4264332" cy="8884024"/>
          </a:xfrm>
          <a:custGeom>
            <a:avLst/>
            <a:gdLst/>
            <a:ahLst/>
            <a:cxnLst/>
            <a:rect l="l" t="t" r="r" b="b"/>
            <a:pathLst>
              <a:path w="4264332" h="8884024">
                <a:moveTo>
                  <a:pt x="0" y="0"/>
                </a:moveTo>
                <a:lnTo>
                  <a:pt x="4264331" y="0"/>
                </a:lnTo>
                <a:lnTo>
                  <a:pt x="4264331" y="8884024"/>
                </a:lnTo>
                <a:lnTo>
                  <a:pt x="0" y="8884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028700" y="3054731"/>
            <a:ext cx="11411912" cy="5718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Mutual Information is a measure of the amount of information onerandom variable contains about another random variable.​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feature and label are independent → MI = 0​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feature strongly predicts label → MI is high​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28700" y="3296317"/>
            <a:ext cx="11411290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Measures dependency between one feature and the target​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feature is evaluated independently​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Does not use any classifier​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Captures linear and non-linear relationships​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 and scalable for high-dimensional data​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 rot="-7552676">
            <a:off x="13197128" y="158633"/>
            <a:ext cx="11934561" cy="10784504"/>
          </a:xfrm>
          <a:custGeom>
            <a:avLst/>
            <a:gdLst/>
            <a:ahLst/>
            <a:cxnLst/>
            <a:rect l="l" t="t" r="r" b="b"/>
            <a:pathLst>
              <a:path w="11934561" h="10784504">
                <a:moveTo>
                  <a:pt x="0" y="0"/>
                </a:moveTo>
                <a:lnTo>
                  <a:pt x="11934561" y="0"/>
                </a:lnTo>
                <a:lnTo>
                  <a:pt x="11934561" y="10784503"/>
                </a:lnTo>
                <a:lnTo>
                  <a:pt x="0" y="10784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3363827" y="29691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314450" y="868556"/>
            <a:ext cx="12348311" cy="89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What is Univariate Mutual Information?​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9748881">
            <a:off x="-1067276" y="7848805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1" y="0"/>
                </a:lnTo>
                <a:lnTo>
                  <a:pt x="19411501" y="17540938"/>
                </a:lnTo>
                <a:lnTo>
                  <a:pt x="0" y="17540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721327" y="3066639"/>
            <a:ext cx="3119767" cy="4114800"/>
          </a:xfrm>
          <a:custGeom>
            <a:avLst/>
            <a:gdLst/>
            <a:ahLst/>
            <a:cxnLst/>
            <a:rect l="l" t="t" r="r" b="b"/>
            <a:pathLst>
              <a:path w="3119767" h="4114800">
                <a:moveTo>
                  <a:pt x="0" y="0"/>
                </a:moveTo>
                <a:lnTo>
                  <a:pt x="3119767" y="0"/>
                </a:lnTo>
                <a:lnTo>
                  <a:pt x="31197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49506"/>
            <a:ext cx="11299026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9"/>
              </a:lnSpc>
              <a:spcBef>
                <a:spcPct val="0"/>
              </a:spcBef>
            </a:pPr>
            <a:r>
              <a:rPr lang="en-US" sz="58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Why Is It Called Univariate?​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72222" y="2619728"/>
            <a:ext cx="11087078" cy="517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MI is computed as:​</a:t>
            </a:r>
          </a:p>
          <a:p>
            <a:pPr marL="906783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MI(X1, Y)​</a:t>
            </a:r>
          </a:p>
          <a:p>
            <a:pPr marL="906783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MI(X2, Y)​</a:t>
            </a:r>
          </a:p>
          <a:p>
            <a:pPr marL="906783" lvl="1" indent="-453392" algn="l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Features are not combined​</a:t>
            </a:r>
          </a:p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Does NOT compute:​</a:t>
            </a:r>
          </a:p>
          <a:p>
            <a:pPr marL="906783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MI(X1, X2, Y)​</a:t>
            </a:r>
          </a:p>
          <a:p>
            <a:pPr marL="906783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Feature interactions are ignored​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28700" y="771047"/>
            <a:ext cx="13384253" cy="91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3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Entropy: The Building Block​</a:t>
            </a:r>
          </a:p>
        </p:txBody>
      </p:sp>
      <p:sp>
        <p:nvSpPr>
          <p:cNvPr id="4" name="Freeform 4"/>
          <p:cNvSpPr/>
          <p:nvPr/>
        </p:nvSpPr>
        <p:spPr>
          <a:xfrm rot="9748881">
            <a:off x="-1067276" y="7848805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1" y="0"/>
                </a:lnTo>
                <a:lnTo>
                  <a:pt x="19411501" y="17540938"/>
                </a:lnTo>
                <a:lnTo>
                  <a:pt x="0" y="17540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028700" y="2317617"/>
            <a:ext cx="14174629" cy="698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Entropy (Uncertainty) : a measure of uncertainty in a dataset.​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For a random variable X:​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  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High entropy → high uncertainty​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Low entropy → more predictable​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Example:​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Fair coin → high entropy​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Always-head coin → zero entropy​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600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 </a:t>
            </a:r>
          </a:p>
        </p:txBody>
      </p:sp>
      <p:pic>
        <p:nvPicPr>
          <p:cNvPr id="6" name="Picture 5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5273568C-E13F-7DA4-3445-0314D4A16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7800" y="3696820"/>
            <a:ext cx="5946950" cy="14466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92CE0490-A176-8B94-CC5E-415C58FE7456}"/>
              </a:ext>
            </a:extLst>
          </p:cNvPr>
          <p:cNvSpPr/>
          <p:nvPr/>
        </p:nvSpPr>
        <p:spPr>
          <a:xfrm>
            <a:off x="11049000" y="5143500"/>
            <a:ext cx="5036082" cy="3775680"/>
          </a:xfrm>
          <a:prstGeom prst="wedgeEllipseCallou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dirty="0">
                <a:ea typeface="+mn-lt"/>
                <a:cs typeface="+mn-lt"/>
              </a:rPr>
              <a:t>The higher the entropy the more the information content!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2133600" y="6280909"/>
            <a:ext cx="12544217" cy="316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</a:t>
            </a:r>
            <a:r>
              <a:rPr lang="en-US" sz="3600" b="1" dirty="0" err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x,y</a:t>
            </a: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): joint probability​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p(x),p(y)p(x), p(y)p(x),p(y): marginal probabilities​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Measures reduction in uncertainty of Y given X​</a:t>
            </a:r>
          </a:p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dirty="0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9324482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Mathematical Definition​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4DBCF412-A782-B096-E4E0-5DDE92902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r="3229" b="690"/>
          <a:stretch>
            <a:fillRect/>
          </a:stretch>
        </p:blipFill>
        <p:spPr>
          <a:xfrm>
            <a:off x="4648200" y="2836140"/>
            <a:ext cx="9265283" cy="2367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314450" y="659006"/>
            <a:ext cx="13371079" cy="305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Univariate Mutual Information Contd...​</a:t>
            </a:r>
          </a:p>
          <a:p>
            <a:pPr algn="l">
              <a:lnSpc>
                <a:spcPts val="8119"/>
              </a:lnSpc>
            </a:pPr>
            <a:r>
              <a:rPr lang="en-US" sz="57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</a:t>
            </a:r>
          </a:p>
          <a:p>
            <a:pPr algn="l">
              <a:lnSpc>
                <a:spcPts val="8119"/>
              </a:lnSpc>
              <a:spcBef>
                <a:spcPct val="0"/>
              </a:spcBef>
            </a:pPr>
            <a:endParaRPr lang="en-US" sz="5799" b="1">
              <a:solidFill>
                <a:srgbClr val="014745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4" name="Freeform 4"/>
          <p:cNvSpPr/>
          <p:nvPr/>
        </p:nvSpPr>
        <p:spPr>
          <a:xfrm rot="-6868969">
            <a:off x="13658655" y="-12303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028700" y="2176021"/>
            <a:ext cx="12934251" cy="890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Spam Classification​</a:t>
            </a:r>
          </a:p>
          <a:p>
            <a:pPr algn="l">
              <a:lnSpc>
                <a:spcPts val="5040"/>
              </a:lnSpc>
            </a:pPr>
            <a:endParaRPr lang="en-US" sz="3600" b="1" dirty="0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Target:​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Y={Spam, Not Spam}​</a:t>
            </a:r>
          </a:p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X1: Number of links​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X2: Email length​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X3: Contains word “FREE”​</a:t>
            </a:r>
          </a:p>
          <a:p>
            <a:pPr algn="l">
              <a:lnSpc>
                <a:spcPts val="5040"/>
              </a:lnSpc>
            </a:pPr>
            <a:endParaRPr lang="en-US" sz="3600" b="1" dirty="0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Best features:                                   Weak feature:​</a:t>
            </a:r>
          </a:p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a. “FREE”                                           a. Email Length ​</a:t>
            </a:r>
          </a:p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b. Number of links​</a:t>
            </a:r>
          </a:p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dirty="0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B5918E-E75C-9D69-E105-B9F83D0BD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169587"/>
              </p:ext>
            </p:extLst>
          </p:nvPr>
        </p:nvGraphicFramePr>
        <p:xfrm>
          <a:off x="8915400" y="2383074"/>
          <a:ext cx="7718564" cy="2846028"/>
        </p:xfrm>
        <a:graphic>
          <a:graphicData uri="http://schemas.openxmlformats.org/drawingml/2006/table">
            <a:tbl>
              <a:tblPr bandRow="1">
                <a:tableStyleId>{306799F8-075E-4A3A-A7F6-7FBC6576F1A4}</a:tableStyleId>
              </a:tblPr>
              <a:tblGrid>
                <a:gridCol w="4001031">
                  <a:extLst>
                    <a:ext uri="{9D8B030D-6E8A-4147-A177-3AD203B41FA5}">
                      <a16:colId xmlns:a16="http://schemas.microsoft.com/office/drawing/2014/main" val="371955676"/>
                    </a:ext>
                  </a:extLst>
                </a:gridCol>
                <a:gridCol w="3717533">
                  <a:extLst>
                    <a:ext uri="{9D8B030D-6E8A-4147-A177-3AD203B41FA5}">
                      <a16:colId xmlns:a16="http://schemas.microsoft.com/office/drawing/2014/main" val="4105858444"/>
                    </a:ext>
                  </a:extLst>
                </a:gridCol>
              </a:tblGrid>
              <a:tr h="711507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effectLst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effectLst/>
                        </a:rPr>
                        <a:t>MI with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108977"/>
                  </a:ext>
                </a:extLst>
              </a:tr>
              <a:tr h="711507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Number of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>
                          <a:effectLst/>
                        </a:rPr>
                        <a:t>0.42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640465"/>
                  </a:ext>
                </a:extLst>
              </a:tr>
              <a:tr h="711507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>
                          <a:effectLst/>
                        </a:rPr>
                        <a:t>Email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>
                          <a:effectLst/>
                        </a:rPr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880041"/>
                  </a:ext>
                </a:extLst>
              </a:tr>
              <a:tr h="711507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Contains "FREE"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0.60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775126"/>
                  </a:ext>
                </a:extLst>
              </a:tr>
            </a:tbl>
          </a:graphicData>
        </a:graphic>
      </p:graphicFrame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474E226-AA04-784D-8E22-75B5311E507B}"/>
              </a:ext>
            </a:extLst>
          </p:cNvPr>
          <p:cNvSpPr/>
          <p:nvPr/>
        </p:nvSpPr>
        <p:spPr>
          <a:xfrm>
            <a:off x="12192000" y="5631138"/>
            <a:ext cx="4441964" cy="3817913"/>
          </a:xfrm>
          <a:prstGeom prst="wedgeRoundRectCallou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0" u="none" strike="noStrike" baseline="0" dirty="0">
                <a:solidFill>
                  <a:schemeClr val="bg1"/>
                </a:solidFill>
                <a:latin typeface="Aptos"/>
              </a:rPr>
              <a:t>​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  <a:latin typeface="Aptos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Aptos"/>
              </a:rPr>
              <a:t>Process:​</a:t>
            </a:r>
            <a:endParaRPr lang="en-US" sz="2800" b="1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sz="2800" b="1" dirty="0">
                <a:solidFill>
                  <a:schemeClr val="bg1"/>
                </a:solidFill>
                <a:latin typeface="Aptos"/>
              </a:rPr>
              <a:t>Compute MI(Xi, Y) for each feature</a:t>
            </a:r>
            <a:endParaRPr lang="en-US" sz="2800" b="1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sz="2800" b="1" dirty="0">
                <a:solidFill>
                  <a:schemeClr val="bg1"/>
                </a:solidFill>
                <a:latin typeface="Aptos"/>
              </a:rPr>
              <a:t>Rank features by MI score</a:t>
            </a:r>
            <a:endParaRPr lang="en-US" sz="2800" b="1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sz="2800" b="1" dirty="0">
                <a:solidFill>
                  <a:schemeClr val="bg1"/>
                </a:solidFill>
                <a:latin typeface="Aptos"/>
              </a:rPr>
              <a:t>Select top-k features</a:t>
            </a:r>
          </a:p>
          <a:p>
            <a:pPr marL="228600" indent="-228600">
              <a:buAutoNum type="arabicPeriod"/>
            </a:pPr>
            <a:r>
              <a:rPr lang="en-US" sz="2800" b="1" dirty="0">
                <a:solidFill>
                  <a:schemeClr val="bg1"/>
                </a:solidFill>
                <a:latin typeface="Aptos"/>
              </a:rPr>
              <a:t>Discard low-information features</a:t>
            </a:r>
          </a:p>
          <a:p>
            <a:pPr algn="ctr"/>
            <a:endParaRPr lang="en-US" sz="2800" b="1" dirty="0">
              <a:solidFill>
                <a:schemeClr val="bg1"/>
              </a:solidFill>
              <a:latin typeface="Aptos"/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558221" y="2859562"/>
            <a:ext cx="12544217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Y = Disease Diagnosis​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1 → Disease Present​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0 → Disease Absent​​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028700" y="523078"/>
            <a:ext cx="15944850" cy="2121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Example: Univariate Mutual Information for Medical Diagnosis​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11419" y="9460626"/>
            <a:ext cx="12544217" cy="38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i="1" dirty="0">
                <a:solidFill>
                  <a:srgbClr val="006B68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Table 01: Patient data before feature selection​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1B5181-88AB-F53B-1EA4-40A7FAC45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8406"/>
              </p:ext>
            </p:extLst>
          </p:nvPr>
        </p:nvGraphicFramePr>
        <p:xfrm>
          <a:off x="1295400" y="4472699"/>
          <a:ext cx="15434379" cy="4785603"/>
        </p:xfrm>
        <a:graphic>
          <a:graphicData uri="http://schemas.openxmlformats.org/drawingml/2006/table">
            <a:tbl>
              <a:tblPr bandRow="1">
                <a:tableStyleId>{306799F8-075E-4A3A-A7F6-7FBC6576F1A4}</a:tableStyleId>
              </a:tblPr>
              <a:tblGrid>
                <a:gridCol w="1241778">
                  <a:extLst>
                    <a:ext uri="{9D8B030D-6E8A-4147-A177-3AD203B41FA5}">
                      <a16:colId xmlns:a16="http://schemas.microsoft.com/office/drawing/2014/main" val="3842357067"/>
                    </a:ext>
                  </a:extLst>
                </a:gridCol>
                <a:gridCol w="840025">
                  <a:extLst>
                    <a:ext uri="{9D8B030D-6E8A-4147-A177-3AD203B41FA5}">
                      <a16:colId xmlns:a16="http://schemas.microsoft.com/office/drawing/2014/main" val="197070727"/>
                    </a:ext>
                  </a:extLst>
                </a:gridCol>
                <a:gridCol w="1497440">
                  <a:extLst>
                    <a:ext uri="{9D8B030D-6E8A-4147-A177-3AD203B41FA5}">
                      <a16:colId xmlns:a16="http://schemas.microsoft.com/office/drawing/2014/main" val="2585422207"/>
                    </a:ext>
                  </a:extLst>
                </a:gridCol>
                <a:gridCol w="1826145">
                  <a:extLst>
                    <a:ext uri="{9D8B030D-6E8A-4147-A177-3AD203B41FA5}">
                      <a16:colId xmlns:a16="http://schemas.microsoft.com/office/drawing/2014/main" val="1536876227"/>
                    </a:ext>
                  </a:extLst>
                </a:gridCol>
                <a:gridCol w="1497440">
                  <a:extLst>
                    <a:ext uri="{9D8B030D-6E8A-4147-A177-3AD203B41FA5}">
                      <a16:colId xmlns:a16="http://schemas.microsoft.com/office/drawing/2014/main" val="2609984122"/>
                    </a:ext>
                  </a:extLst>
                </a:gridCol>
                <a:gridCol w="821764">
                  <a:extLst>
                    <a:ext uri="{9D8B030D-6E8A-4147-A177-3AD203B41FA5}">
                      <a16:colId xmlns:a16="http://schemas.microsoft.com/office/drawing/2014/main" val="2858953155"/>
                    </a:ext>
                  </a:extLst>
                </a:gridCol>
                <a:gridCol w="1424395">
                  <a:extLst>
                    <a:ext uri="{9D8B030D-6E8A-4147-A177-3AD203B41FA5}">
                      <a16:colId xmlns:a16="http://schemas.microsoft.com/office/drawing/2014/main" val="1095218957"/>
                    </a:ext>
                  </a:extLst>
                </a:gridCol>
                <a:gridCol w="1442654">
                  <a:extLst>
                    <a:ext uri="{9D8B030D-6E8A-4147-A177-3AD203B41FA5}">
                      <a16:colId xmlns:a16="http://schemas.microsoft.com/office/drawing/2014/main" val="3086853232"/>
                    </a:ext>
                  </a:extLst>
                </a:gridCol>
                <a:gridCol w="1771362">
                  <a:extLst>
                    <a:ext uri="{9D8B030D-6E8A-4147-A177-3AD203B41FA5}">
                      <a16:colId xmlns:a16="http://schemas.microsoft.com/office/drawing/2014/main" val="3443228839"/>
                    </a:ext>
                  </a:extLst>
                </a:gridCol>
                <a:gridCol w="1333087">
                  <a:extLst>
                    <a:ext uri="{9D8B030D-6E8A-4147-A177-3AD203B41FA5}">
                      <a16:colId xmlns:a16="http://schemas.microsoft.com/office/drawing/2014/main" val="1832225947"/>
                    </a:ext>
                  </a:extLst>
                </a:gridCol>
                <a:gridCol w="1738289">
                  <a:extLst>
                    <a:ext uri="{9D8B030D-6E8A-4147-A177-3AD203B41FA5}">
                      <a16:colId xmlns:a16="http://schemas.microsoft.com/office/drawing/2014/main" val="1788755185"/>
                    </a:ext>
                  </a:extLst>
                </a:gridCol>
              </a:tblGrid>
              <a:tr h="15873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Blood Pressure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Cholesterol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Glucose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Heart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Smoking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Chest Pain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Exercise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Y (Disease)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865351"/>
                  </a:ext>
                </a:extLst>
              </a:tr>
              <a:tr h="639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082890"/>
                  </a:ext>
                </a:extLst>
              </a:tr>
              <a:tr h="639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597814"/>
                  </a:ext>
                </a:extLst>
              </a:tr>
              <a:tr h="639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30981"/>
                  </a:ext>
                </a:extLst>
              </a:tr>
              <a:tr h="639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374110"/>
                  </a:ext>
                </a:extLst>
              </a:tr>
              <a:tr h="639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1674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214249" y="3093808"/>
            <a:ext cx="15859502" cy="3806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 is computed independently for each feature with respect to Y​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MI(Age ; Y) 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MI(Blood Pressure ; Y)​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MI(Cholesterol ; Y)​</a:t>
            </a:r>
          </a:p>
          <a:p>
            <a:pPr marL="388620" lvl="1" algn="l">
              <a:lnSpc>
                <a:spcPts val="5040"/>
              </a:lnSpc>
            </a:pPr>
            <a:r>
              <a:rPr lang="en-US" sz="3600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the formula; 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dirty="0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199009" y="623281"/>
            <a:ext cx="17145000" cy="2121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Step 1 – Compute Univariate Mutual Information​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BFF24198-FEA7-4788-A90D-700854E056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r="3229" b="690"/>
          <a:stretch>
            <a:fillRect/>
          </a:stretch>
        </p:blipFill>
        <p:spPr>
          <a:xfrm>
            <a:off x="4724400" y="6705418"/>
            <a:ext cx="9265283" cy="2367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509467" y="8295027"/>
            <a:ext cx="13763072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1" lvl="1" indent="-367031" algn="l">
              <a:lnSpc>
                <a:spcPts val="4760"/>
              </a:lnSpc>
              <a:buFont typeface="Arial"/>
              <a:buChar char="•"/>
            </a:pPr>
            <a:r>
              <a:rPr lang="en-US" sz="3400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Higher MI ⇒ More information about disease diagnosis​</a:t>
            </a:r>
          </a:p>
          <a:p>
            <a:pPr marL="734061" lvl="1" indent="-367031" algn="l">
              <a:lnSpc>
                <a:spcPts val="4760"/>
              </a:lnSpc>
              <a:buFont typeface="Arial"/>
              <a:buChar char="•"/>
            </a:pPr>
            <a:r>
              <a:rPr lang="en-US" sz="3400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Lower MI ⇒ Less information about disease diagnosis​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endParaRPr lang="en-US" sz="3400" dirty="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15101853" cy="10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Step 2 – MI Scores for Each Feature​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11AC36E8-8DBD-638F-362D-7810F98628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7012034"/>
              </p:ext>
            </p:extLst>
          </p:nvPr>
        </p:nvGraphicFramePr>
        <p:xfrm>
          <a:off x="4809603" y="2113630"/>
          <a:ext cx="7162800" cy="5791200"/>
        </p:xfrm>
        <a:graphic>
          <a:graphicData uri="http://schemas.openxmlformats.org/drawingml/2006/table">
            <a:tbl>
              <a:tblPr bandRow="1">
                <a:tableStyleId>{F2DE63D5-997A-4646-A377-4702673A728D}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187144261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150373983"/>
                    </a:ext>
                  </a:extLst>
                </a:gridCol>
              </a:tblGrid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MI(X ; 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050211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23082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Blood Pressure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55896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Cholesterol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44797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Glucose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717820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841962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Heart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999554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Smoking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839447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Chest Pain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814260"/>
                  </a:ext>
                </a:extLst>
              </a:tr>
              <a:tr h="545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Exercise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2623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432660" y="2013500"/>
            <a:ext cx="13403615" cy="855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Selection criterion:​ Top five features with the highest values​</a:t>
            </a:r>
          </a:p>
          <a:p>
            <a:pPr algn="l">
              <a:lnSpc>
                <a:spcPts val="4545"/>
              </a:lnSpc>
            </a:pPr>
            <a:endParaRPr lang="en-US" sz="3246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Selected Features​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Blood Pressure​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Cholesterol​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Glucose​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Smoking​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Chest Pain​</a:t>
            </a:r>
          </a:p>
          <a:p>
            <a:pPr algn="l">
              <a:lnSpc>
                <a:spcPts val="4545"/>
              </a:lnSpc>
            </a:pPr>
            <a:endParaRPr lang="en-US" sz="3246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❌ Removed Features​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BMI​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Heart Rate​</a:t>
            </a:r>
          </a:p>
          <a:p>
            <a:pPr marL="700952" lvl="1" indent="-350476" algn="l">
              <a:lnSpc>
                <a:spcPts val="4545"/>
              </a:lnSpc>
              <a:buFont typeface="Arial"/>
              <a:buChar char="•"/>
            </a:pPr>
            <a:r>
              <a:rPr lang="en-US" sz="324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Exercise Level​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endParaRPr lang="en-US" sz="3246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432660" y="734235"/>
            <a:ext cx="12932292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Step 3 – Feature Selection Rule​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314450" y="2069970"/>
            <a:ext cx="14835664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after univariate MI-based dimensionality reduction​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13687981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Final Reduced Feature Table​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CA1B35-0E39-B2DE-9415-409B25E6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078729"/>
              </p:ext>
            </p:extLst>
          </p:nvPr>
        </p:nvGraphicFramePr>
        <p:xfrm>
          <a:off x="1600200" y="3046221"/>
          <a:ext cx="15759758" cy="6400798"/>
        </p:xfrm>
        <a:graphic>
          <a:graphicData uri="http://schemas.openxmlformats.org/drawingml/2006/table">
            <a:tbl>
              <a:tblPr bandRow="1">
                <a:tableStyleId>{306799F8-075E-4A3A-A7F6-7FBC6576F1A4}</a:tableStyleId>
              </a:tblPr>
              <a:tblGrid>
                <a:gridCol w="2251394">
                  <a:extLst>
                    <a:ext uri="{9D8B030D-6E8A-4147-A177-3AD203B41FA5}">
                      <a16:colId xmlns:a16="http://schemas.microsoft.com/office/drawing/2014/main" val="2649671788"/>
                    </a:ext>
                  </a:extLst>
                </a:gridCol>
                <a:gridCol w="2251394">
                  <a:extLst>
                    <a:ext uri="{9D8B030D-6E8A-4147-A177-3AD203B41FA5}">
                      <a16:colId xmlns:a16="http://schemas.microsoft.com/office/drawing/2014/main" val="1151226630"/>
                    </a:ext>
                  </a:extLst>
                </a:gridCol>
                <a:gridCol w="2251394">
                  <a:extLst>
                    <a:ext uri="{9D8B030D-6E8A-4147-A177-3AD203B41FA5}">
                      <a16:colId xmlns:a16="http://schemas.microsoft.com/office/drawing/2014/main" val="1836789569"/>
                    </a:ext>
                  </a:extLst>
                </a:gridCol>
                <a:gridCol w="2251394">
                  <a:extLst>
                    <a:ext uri="{9D8B030D-6E8A-4147-A177-3AD203B41FA5}">
                      <a16:colId xmlns:a16="http://schemas.microsoft.com/office/drawing/2014/main" val="383791660"/>
                    </a:ext>
                  </a:extLst>
                </a:gridCol>
                <a:gridCol w="2251394">
                  <a:extLst>
                    <a:ext uri="{9D8B030D-6E8A-4147-A177-3AD203B41FA5}">
                      <a16:colId xmlns:a16="http://schemas.microsoft.com/office/drawing/2014/main" val="3016405187"/>
                    </a:ext>
                  </a:extLst>
                </a:gridCol>
                <a:gridCol w="2251394">
                  <a:extLst>
                    <a:ext uri="{9D8B030D-6E8A-4147-A177-3AD203B41FA5}">
                      <a16:colId xmlns:a16="http://schemas.microsoft.com/office/drawing/2014/main" val="44587545"/>
                    </a:ext>
                  </a:extLst>
                </a:gridCol>
                <a:gridCol w="2251394">
                  <a:extLst>
                    <a:ext uri="{9D8B030D-6E8A-4147-A177-3AD203B41FA5}">
                      <a16:colId xmlns:a16="http://schemas.microsoft.com/office/drawing/2014/main" val="1016810995"/>
                    </a:ext>
                  </a:extLst>
                </a:gridCol>
              </a:tblGrid>
              <a:tr h="1289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Blood Pressure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Cholesterol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Glucose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Smoking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Chest Pain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Y (Disease)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709361"/>
                  </a:ext>
                </a:extLst>
              </a:tr>
              <a:tr h="1022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978278"/>
                  </a:ext>
                </a:extLst>
              </a:tr>
              <a:tr h="1022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514378"/>
                  </a:ext>
                </a:extLst>
              </a:tr>
              <a:tr h="1022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19213"/>
                  </a:ext>
                </a:extLst>
              </a:tr>
              <a:tr h="1022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157841"/>
                  </a:ext>
                </a:extLst>
              </a:tr>
              <a:tr h="1022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91487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C63703-2BE0-47EA-DB33-C4B052A040F2}"/>
              </a:ext>
            </a:extLst>
          </p:cNvPr>
          <p:cNvSpPr txBox="1"/>
          <p:nvPr/>
        </p:nvSpPr>
        <p:spPr>
          <a:xfrm>
            <a:off x="-614085" y="9505947"/>
            <a:ext cx="18692734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006B68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Table 02: Patient data after feature selection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7347809" y="2263140"/>
            <a:ext cx="9911491" cy="699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Measures how informative each individual feature is about thetarget​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Detects non-linear relationships that correlation might miss​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Each feature receives a single MI score, making it easy to rank​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Evaluates features independently, making it fast even with manyfeatures​</a:t>
            </a:r>
          </a:p>
          <a:p>
            <a:pPr marL="777240" lvl="1" indent="-388620" algn="just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Works for categorical or continuous features and targets​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2045763" y="3232403"/>
            <a:ext cx="4518326" cy="4518326"/>
          </a:xfrm>
          <a:custGeom>
            <a:avLst/>
            <a:gdLst/>
            <a:ahLst/>
            <a:cxnLst/>
            <a:rect l="l" t="t" r="r" b="b"/>
            <a:pathLst>
              <a:path w="4518326" h="4518326">
                <a:moveTo>
                  <a:pt x="0" y="0"/>
                </a:moveTo>
                <a:lnTo>
                  <a:pt x="4518326" y="0"/>
                </a:lnTo>
                <a:lnTo>
                  <a:pt x="4518326" y="4518325"/>
                </a:lnTo>
                <a:lnTo>
                  <a:pt x="0" y="4518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314450" y="839981"/>
            <a:ext cx="9324482" cy="114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6699" b="1">
                <a:solidFill>
                  <a:srgbClr val="014745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Advantages​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680106" y="2216232"/>
            <a:ext cx="15957010" cy="316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Ignores redundancy between features​.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Two features may individually be informative but redundant together​.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Does not capture feature interactions​.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10884616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 dirty="0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Limitations of Univariate MI​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63B886-843E-B888-169C-1296A500F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96459"/>
              </p:ext>
            </p:extLst>
          </p:nvPr>
        </p:nvGraphicFramePr>
        <p:xfrm>
          <a:off x="1066800" y="5126636"/>
          <a:ext cx="15928273" cy="4297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09425">
                  <a:extLst>
                    <a:ext uri="{9D8B030D-6E8A-4147-A177-3AD203B41FA5}">
                      <a16:colId xmlns:a16="http://schemas.microsoft.com/office/drawing/2014/main" val="1717653325"/>
                    </a:ext>
                  </a:extLst>
                </a:gridCol>
                <a:gridCol w="3012600">
                  <a:extLst>
                    <a:ext uri="{9D8B030D-6E8A-4147-A177-3AD203B41FA5}">
                      <a16:colId xmlns:a16="http://schemas.microsoft.com/office/drawing/2014/main" val="289764647"/>
                    </a:ext>
                  </a:extLst>
                </a:gridCol>
                <a:gridCol w="7606248">
                  <a:extLst>
                    <a:ext uri="{9D8B030D-6E8A-4147-A177-3AD203B41FA5}">
                      <a16:colId xmlns:a16="http://schemas.microsoft.com/office/drawing/2014/main" val="2008561323"/>
                    </a:ext>
                  </a:extLst>
                </a:gridCol>
              </a:tblGrid>
              <a:tr h="4506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Feature</a:t>
                      </a:r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 dirty="0"/>
                        <a:t>MI with Pass/Fail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Notes</a:t>
                      </a:r>
                      <a:endParaRPr lang="en-US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08566"/>
                  </a:ext>
                </a:extLst>
              </a:tr>
              <a:tr h="4506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Hours Studied</a:t>
                      </a:r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Individually informative</a:t>
                      </a:r>
                      <a:endParaRPr lang="en-US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458996"/>
                  </a:ext>
                </a:extLst>
              </a:tr>
              <a:tr h="4506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Number of Practice Tests Taken</a:t>
                      </a:r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Highly correlated with Hours Studied (redundant)</a:t>
                      </a:r>
                      <a:endParaRPr lang="en-US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486555"/>
                  </a:ext>
                </a:extLst>
              </a:tr>
              <a:tr h="4506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Attendance</a:t>
                      </a:r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Weakly informative</a:t>
                      </a:r>
                      <a:endParaRPr lang="en-US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526071"/>
                  </a:ext>
                </a:extLst>
              </a:tr>
              <a:tr h="4506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/>
                        <a:t>Social Media Usage</a:t>
                      </a:r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0" u="none" strike="noStrike" noProof="0" dirty="0"/>
                        <a:t>Not informative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80551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BA36-D84C-2CB9-3FDF-FD53BE0C7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5C56A1-FC63-0F87-AB7A-784224DEB771}"/>
              </a:ext>
            </a:extLst>
          </p:cNvPr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598E15D-0668-0C92-9FAA-749D33013CD0}"/>
              </a:ext>
            </a:extLst>
          </p:cNvPr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9FF4757-31EE-F250-F66B-BA2402F0459C}"/>
              </a:ext>
            </a:extLst>
          </p:cNvPr>
          <p:cNvSpPr txBox="1"/>
          <p:nvPr/>
        </p:nvSpPr>
        <p:spPr>
          <a:xfrm>
            <a:off x="1314450" y="839981"/>
            <a:ext cx="15525750" cy="2098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539"/>
              </a:lnSpc>
              <a:spcBef>
                <a:spcPct val="0"/>
              </a:spcBef>
            </a:pPr>
            <a:r>
              <a:rPr lang="en-US" sz="6099" b="1" dirty="0">
                <a:solidFill>
                  <a:schemeClr val="accent3">
                    <a:lumMod val="50000"/>
                  </a:scheme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</a:t>
            </a:r>
            <a:r>
              <a:rPr lang="en-US" sz="6600" b="1" dirty="0">
                <a:solidFill>
                  <a:schemeClr val="accent3">
                    <a:lumMod val="50000"/>
                  </a:schemeClr>
                </a:solidFill>
                <a:latin typeface="Arial Nova" panose="020B0504020202020204" pitchFamily="34" charset="0"/>
                <a:ea typeface="+mj-lt"/>
                <a:cs typeface="+mj-lt"/>
              </a:rPr>
              <a:t>Comparison with Other Feature Selection Methods</a:t>
            </a:r>
            <a:endParaRPr lang="en-US" sz="6099" b="1" dirty="0">
              <a:solidFill>
                <a:schemeClr val="accent3">
                  <a:lumMod val="50000"/>
                </a:schemeClr>
              </a:solidFill>
              <a:latin typeface="Arial Nova" panose="020B0504020202020204" pitchFamily="34" charset="0"/>
              <a:ea typeface="Arial Nova Bold"/>
              <a:cs typeface="Arial Nova Bold"/>
              <a:sym typeface="Arial Nova Bold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2D96AFB-6241-E01E-7BEE-1E7FC8BDE1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9913939"/>
              </p:ext>
            </p:extLst>
          </p:nvPr>
        </p:nvGraphicFramePr>
        <p:xfrm>
          <a:off x="1600200" y="3736505"/>
          <a:ext cx="14859000" cy="44078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251808899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1692791219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17769454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3718473748"/>
                    </a:ext>
                  </a:extLst>
                </a:gridCol>
              </a:tblGrid>
              <a:tr h="881578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Supervised?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Nonlinear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Feature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523508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Variance Threshold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                </a:t>
                      </a:r>
                      <a:r>
                        <a:rPr lang="en-US" sz="3200" b="0" u="none" strike="noStrike" noProof="0"/>
                        <a:t>❌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 dirty="0">
                          <a:solidFill>
                            <a:srgbClr val="000000"/>
                          </a:solidFill>
                        </a:rPr>
                        <a:t>                  ❌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>
                          <a:solidFill>
                            <a:srgbClr val="000000"/>
                          </a:solidFill>
                        </a:rPr>
                        <a:t>                    ❌</a:t>
                      </a:r>
                      <a:endParaRPr lang="en-US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477586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Correlation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                ✅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>
                          <a:solidFill>
                            <a:srgbClr val="000000"/>
                          </a:solidFill>
                        </a:rPr>
                        <a:t>                  ❌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>
                          <a:solidFill>
                            <a:srgbClr val="000000"/>
                          </a:solidFill>
                        </a:rPr>
                        <a:t>                    ❌</a:t>
                      </a:r>
                      <a:endParaRPr lang="en-US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560169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Univariate MI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                ✅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                  ✅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>
                          <a:solidFill>
                            <a:srgbClr val="000000"/>
                          </a:solidFill>
                        </a:rPr>
                        <a:t>                    ❌</a:t>
                      </a:r>
                      <a:endParaRPr lang="en-US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805471"/>
                  </a:ext>
                </a:extLst>
              </a:tr>
              <a:tr h="8815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Multivariate MI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                ✅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/>
                        <a:t>                  ✅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200" b="0" u="none" strike="noStrike" noProof="0" dirty="0"/>
                        <a:t>                    ✅</a:t>
                      </a:r>
                      <a:endParaRPr 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89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87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2070140" y="2386872"/>
            <a:ext cx="14762532" cy="635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Compare classifier performance before and after Univariate Mutual Information (MI) feature selection​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Measure performance using Accuracy and Macro F1-score​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Datasets &amp; Preprocessing​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Labeled dataset​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Varying number of features​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Feature selection applied only on training folds​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Hyperparameter tuning​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15370001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Project Objectives &amp; Datasets​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314450" y="2300951"/>
            <a:ext cx="15944850" cy="750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 (Baseline): </a:t>
            </a: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Train five classifiers using all original features with 10-fold cross-validation and hyperparameter tuning.​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Record baseline performance (Accuracy and F1-score).​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Compute univariate mutual information MI(</a:t>
            </a:r>
            <a:r>
              <a:rPr lang="en-US" sz="2999" dirty="0" err="1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Xi;Y</a:t>
            </a: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) MI(</a:t>
            </a:r>
            <a:r>
              <a:rPr lang="en-US" sz="2999" dirty="0" err="1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X_i</a:t>
            </a: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; Y)MI(Xi ;Y) for each feature.​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Rank features based on mutual information scores.​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Select top-K features (or features above a threshold).​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Create reduced datasets using the selected features.​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endParaRPr lang="en-US" sz="2999" dirty="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 (Feature Selection): </a:t>
            </a: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Train the same classifiers on the reduced feature set with 10-fold cross-validation and hyperparameter tuning.​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Record feature-selected performance (Accuracy and F1-score).​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6B68"/>
                </a:solidFill>
                <a:latin typeface="Canva Sans"/>
                <a:ea typeface="Canva Sans"/>
                <a:cs typeface="Canva Sans"/>
                <a:sym typeface="Canva Sans"/>
              </a:rPr>
              <a:t>Compare baseline and feature-selected results across datasets and classifiers.​</a:t>
            </a:r>
          </a:p>
          <a:p>
            <a:pPr marL="323849" lvl="1" algn="just">
              <a:lnSpc>
                <a:spcPts val="4199"/>
              </a:lnSpc>
            </a:pPr>
            <a:endParaRPr lang="en-US" sz="2999" dirty="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6B6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14906836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Methodology and Experimental Setup​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66800" y="2858567"/>
            <a:ext cx="15607450" cy="3819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Univariate MI is an effective and efficient feature selection method​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Improves performance in high-dimensional datasets​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Simple but limited due to lack of interaction awareness​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 baseline for feature selection studies​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dirty="0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9324482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Conclusion​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17737" flipH="1">
            <a:off x="-5159504" y="-6578531"/>
            <a:ext cx="10319008" cy="9324631"/>
          </a:xfrm>
          <a:custGeom>
            <a:avLst/>
            <a:gdLst/>
            <a:ahLst/>
            <a:cxnLst/>
            <a:rect l="l" t="t" r="r" b="b"/>
            <a:pathLst>
              <a:path w="10319008" h="9324631">
                <a:moveTo>
                  <a:pt x="10319008" y="0"/>
                </a:moveTo>
                <a:lnTo>
                  <a:pt x="0" y="0"/>
                </a:lnTo>
                <a:lnTo>
                  <a:pt x="0" y="9324631"/>
                </a:lnTo>
                <a:lnTo>
                  <a:pt x="10319008" y="9324631"/>
                </a:lnTo>
                <a:lnTo>
                  <a:pt x="10319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314450" y="2424482"/>
            <a:ext cx="16188621" cy="7314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00"/>
              </a:lnSpc>
            </a:pPr>
            <a:r>
              <a:rPr lang="en-US" sz="378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[1] U. F. Siddiqi, S. M. Sait, and O. Kaynak, “Genetic algorithm for themutual information-based feature selection in univariate timeseries data,” IEEE Access, vol. 8, pp. 9597–9609, 2020. ​</a:t>
            </a:r>
          </a:p>
          <a:p>
            <a:pPr algn="just">
              <a:lnSpc>
                <a:spcPts val="5300"/>
              </a:lnSpc>
            </a:pPr>
            <a:r>
              <a:rPr lang="en-US" sz="378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[2] V. Michel, C. Damon, and B. Thirion, “Mutual information-basedfeature selection enhances fmri brain activity classification,” in2008 5th IEEE international symposium on biomedical imaging:From nano to macro, pp. 592–595, IEEE, 2008. ​</a:t>
            </a:r>
          </a:p>
          <a:p>
            <a:pPr algn="just">
              <a:lnSpc>
                <a:spcPts val="5300"/>
              </a:lnSpc>
            </a:pPr>
            <a:r>
              <a:rPr lang="en-US" sz="3786" b="1">
                <a:solidFill>
                  <a:srgbClr val="006B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[3] G. Doquire and M. Verleysen, “Mutual information-based featureselection for multilabel classification,” Neurocomputing, vol. 122,pp. 148–155, 2013.​</a:t>
            </a:r>
          </a:p>
          <a:p>
            <a:pPr algn="just">
              <a:lnSpc>
                <a:spcPts val="5300"/>
              </a:lnSpc>
              <a:spcBef>
                <a:spcPct val="0"/>
              </a:spcBef>
            </a:pPr>
            <a:endParaRPr lang="en-US" sz="3786" b="1">
              <a:solidFill>
                <a:srgbClr val="006B6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 rot="-935363">
            <a:off x="10134405" y="-1801873"/>
            <a:ext cx="19411500" cy="17540937"/>
          </a:xfrm>
          <a:custGeom>
            <a:avLst/>
            <a:gdLst/>
            <a:ahLst/>
            <a:cxnLst/>
            <a:rect l="l" t="t" r="r" b="b"/>
            <a:pathLst>
              <a:path w="19411500" h="17540937">
                <a:moveTo>
                  <a:pt x="0" y="0"/>
                </a:moveTo>
                <a:lnTo>
                  <a:pt x="19411500" y="0"/>
                </a:lnTo>
                <a:lnTo>
                  <a:pt x="19411500" y="17540937"/>
                </a:lnTo>
                <a:lnTo>
                  <a:pt x="0" y="1754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314450" y="839981"/>
            <a:ext cx="9324482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References​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372145" y="-688803"/>
            <a:ext cx="12875124" cy="12758078"/>
          </a:xfrm>
          <a:custGeom>
            <a:avLst/>
            <a:gdLst/>
            <a:ahLst/>
            <a:cxnLst/>
            <a:rect l="l" t="t" r="r" b="b"/>
            <a:pathLst>
              <a:path w="12875124" h="12758078">
                <a:moveTo>
                  <a:pt x="12875125" y="0"/>
                </a:moveTo>
                <a:lnTo>
                  <a:pt x="0" y="0"/>
                </a:lnTo>
                <a:lnTo>
                  <a:pt x="0" y="12758077"/>
                </a:lnTo>
                <a:lnTo>
                  <a:pt x="12875125" y="12758077"/>
                </a:lnTo>
                <a:lnTo>
                  <a:pt x="1287512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314450" y="1112520"/>
            <a:ext cx="9324482" cy="306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 b="1">
                <a:solidFill>
                  <a:srgbClr val="006B6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Thank You for Listening</a:t>
            </a:r>
          </a:p>
        </p:txBody>
      </p:sp>
      <p:pic>
        <p:nvPicPr>
          <p:cNvPr id="4" name="Content Placeholder 3" descr="A green frog puppet drinking tea&#10;&#10;AI-generated content may be incorrect.">
            <a:extLst>
              <a:ext uri="{FF2B5EF4-FFF2-40B4-BE49-F238E27FC236}">
                <a16:creationId xmlns:a16="http://schemas.microsoft.com/office/drawing/2014/main" id="{51E0BC63-F7A5-51C0-F048-4AEDC2C33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245437"/>
            <a:ext cx="5943600" cy="5927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1406</Words>
  <Application>Microsoft Office PowerPoint</Application>
  <PresentationFormat>Custom</PresentationFormat>
  <Paragraphs>332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</vt:lpstr>
      <vt:lpstr>Aptos</vt:lpstr>
      <vt:lpstr>Arial Nova</vt:lpstr>
      <vt:lpstr>Canva Sans Bold</vt:lpstr>
      <vt:lpstr>Arial Nova Italics</vt:lpstr>
      <vt:lpstr>Canva Sans</vt:lpstr>
      <vt:lpstr>Arial Nova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Simple Work-Life Balance Presentation</dc:title>
  <cp:lastModifiedBy>Dewni Deraniyagala</cp:lastModifiedBy>
  <cp:revision>8</cp:revision>
  <dcterms:created xsi:type="dcterms:W3CDTF">2006-08-16T00:00:00Z</dcterms:created>
  <dcterms:modified xsi:type="dcterms:W3CDTF">2026-02-10T19:06:23Z</dcterms:modified>
  <dc:identifier>DAHA8YmCpsE</dc:identifier>
</cp:coreProperties>
</file>