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Roboto"/>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4" roundtripDataSignature="AMtx7miX0G1XLpi21IOaZoyrwA/qPpC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font" Target="fonts/Raleway-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Hello, everyone. I'm presenting a research paper titled "Detection of Hate Speech using BERT and Domain-Specific Word Embedding with Deep Model" by Hind Saleh et al, published in Applied Artificial Intelligence in 2023.</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paper addresses a critical problem in our digital age which is automatically detecting hate speech on social media platforms with high accuracy while accounting for coded language that hate communities use to evade detection.</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In the next 10 minutes, I'll walk you through the problem, the two approaches they investigated, their experimental results, and why domain-specific embeddings matter. We'll also look at explainability analysis and the conclusion.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start with context. 60% of the global population—that's 4 and a half billion people—uses social media. According to studies, 53% of Americans have encountered online harassment and hate speech. Even more concerning, 21% of students frequently encounter hate speech on social media.</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Social media platforms have become a breeding ground for hate speech targeting people based on race, religion, gender, sexual orientation, and other characteristics. The negative impact on communities is significant—it can radicalize young people and incite violence.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SzPts val="1100"/>
              <a:buNone/>
            </a:pPr>
            <a:r>
              <a:rPr lang="en-US" sz="1200">
                <a:solidFill>
                  <a:schemeClr val="dk1"/>
                </a:solidFill>
                <a:latin typeface="Roboto"/>
                <a:ea typeface="Roboto"/>
                <a:cs typeface="Roboto"/>
                <a:sym typeface="Roboto"/>
              </a:rPr>
              <a:t>The authors aim to provide an automated solution using machine learning and deep learning to detect this harmful content at scale.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Now, why is this problem challenging? Hate communities deliberately use coded language. For example, they might use the word "Google" to refer to dark-skinned people. They use intentional misspellings like "f</a:t>
            </a:r>
            <a:r>
              <a:rPr i="1" lang="en-US" sz="1200">
                <a:solidFill>
                  <a:schemeClr val="dk1"/>
                </a:solidFill>
                <a:latin typeface="Roboto"/>
                <a:ea typeface="Roboto"/>
                <a:cs typeface="Roboto"/>
                <a:sym typeface="Roboto"/>
              </a:rPr>
              <a:t>ck" or "r</a:t>
            </a:r>
            <a:r>
              <a:rPr lang="en-US" sz="1200">
                <a:solidFill>
                  <a:schemeClr val="dk1"/>
                </a:solidFill>
                <a:latin typeface="Roboto"/>
                <a:ea typeface="Roboto"/>
                <a:cs typeface="Roboto"/>
                <a:sym typeface="Roboto"/>
              </a:rPr>
              <a:t>pe" to bypass automated filters. They use abbreviations and fragments.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Additionally, the same words can be hateful or innocent depending on context. And identifying hate speech is inherently subjective—two humans might disagree on whether something is hateful.</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is where domain-specific word embeddings come in. If we train our embedding models on actual hate speech data, they'll learn the semantics of coded words and misspellings that general-purpose models completely miss.</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briefly explain word embeddings. Word embeddings convert words into numerical vectors that capture semantic meaning and context. There are several types:</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Word2Vec is a predictive model that uses local context to learn word embeddings through tasks like predicting a word from its context or predicting the context from a word , trained on massive corpora like Google News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GloVe is a count-based model that learns by factorizing a global word-word co-occurrence matrix, directly using global statistics from the entire corpus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Domain-Specific embeddings are trained on data from a specific domain—in this case, hate speech from Twitter and hate websites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key insight: if you train embeddings on hate speech data, the model learns what words mean </a:t>
            </a:r>
            <a:r>
              <a:rPr i="1" lang="en-US" sz="1200">
                <a:solidFill>
                  <a:schemeClr val="dk1"/>
                </a:solidFill>
                <a:latin typeface="Roboto"/>
                <a:ea typeface="Roboto"/>
                <a:cs typeface="Roboto"/>
                <a:sym typeface="Roboto"/>
              </a:rPr>
              <a:t>within the hate community</a:t>
            </a:r>
            <a:r>
              <a:rPr lang="en-US" sz="1200">
                <a:solidFill>
                  <a:schemeClr val="dk1"/>
                </a:solidFill>
                <a:latin typeface="Roboto"/>
                <a:ea typeface="Roboto"/>
                <a:cs typeface="Roboto"/>
                <a:sym typeface="Roboto"/>
              </a:rPr>
              <a:t>, not what they mean in general.</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paper investigates two approaches. Approach 1 combines domain-specific embeddings with a BiLSTM deep learning classifier.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They created their own embedding model called HSW2V (Hate Speech Word2Vec) trained on 1.048 million sentences from available hate speech datasets plus data they collected from Twitter using hate keywords and hateful accounts.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classification, they use BiLSTM—Bidirectional LSTM—which processes text in both forward and backward directions, preserving long-range dependencies and context.</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972ee01b4_1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3a972ee01b4_1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Approach 2 uses BERT—language model which is based on transformers.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BERT is a pre-trained language model trained on enormous amounts of data</a:t>
            </a:r>
            <a:r>
              <a:rPr lang="en-US" sz="1200">
                <a:solidFill>
                  <a:schemeClr val="dk1"/>
                </a:solidFill>
                <a:latin typeface="Roboto"/>
                <a:ea typeface="Roboto"/>
                <a:cs typeface="Roboto"/>
                <a:sym typeface="Roboto"/>
              </a:rPr>
              <a:t>: </a:t>
            </a:r>
            <a:r>
              <a:rPr lang="en-US" sz="1800">
                <a:solidFill>
                  <a:schemeClr val="dk1"/>
                </a:solidFill>
                <a:latin typeface="Lato"/>
                <a:ea typeface="Lato"/>
                <a:cs typeface="Lato"/>
                <a:sym typeface="Lato"/>
              </a:rPr>
              <a:t>3.4 Billions+</a:t>
            </a:r>
            <a:r>
              <a:rPr lang="en-US" sz="1200">
                <a:solidFill>
                  <a:schemeClr val="dk1"/>
                </a:solidFill>
                <a:latin typeface="Roboto"/>
                <a:ea typeface="Roboto"/>
                <a:cs typeface="Roboto"/>
                <a:sym typeface="Roboto"/>
              </a:rPr>
              <a:t> words from book corpora and Wikipedia</a:t>
            </a:r>
            <a:r>
              <a:rPr lang="en-US" sz="1200">
                <a:solidFill>
                  <a:schemeClr val="dk1"/>
                </a:solidFill>
                <a:latin typeface="Roboto"/>
                <a:ea typeface="Roboto"/>
                <a:cs typeface="Roboto"/>
                <a:sym typeface="Roboto"/>
              </a:rPr>
              <a:t>. BiLSTM processes text sequentially both forward and backward but primarily models sequential dependencies. BERT, using a self-attention mechanism, looks at the entire sequence simultaneously to understand the context of a word from both its left and right sides at once. This allows BERT to grasp more nuanced and complex semantic relationships.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authors fine-tune BERT for hate speech binary classification. one can simply add a classification layer on top and train it on hate speech data.</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So Approach 1 achieves 81% to 93% F1-score depending on the dataset, while Approach 2 achieves 85% to 96% F1-score. So, There is a 1 to 4-point difference.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author claims that The main reason for that is the corpus size. HSW2V is trained on 1 million sentences. BERT is trained on over 3.3 billion words. Pre-trained models perform better with more data.</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However, the gap is surprisingly small—only 1 to 4 points—given the massive difference in training data. This demonstrates the power of domain-specific embeddings.</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Here's a compelling example from the paper. They tested word similarity with a misspelled hate word: "fc*" (a deliberately obscured slur).</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Word2Vec retrieved: irrelevant words like "hahahahahaha", "questionlove", "freaken"—completely wrong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GloVe retrieved: diacritical marks and non-English text—also wrong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HSW2V retrieved: fu*, lmfaoo, shii, fucc, dats, noooo—exactly what they wanted</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is the critical insight: domain-specific embeddings understand hate community semantics.General models fail because hate speech words and their misspellings are rare in Wikipedia and books. They only appear frequently in hate speech corpora.</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paper also analyzed model explainability using LIME—Local Interpretable Model-agnostic Explanations. This shows which words influenced the classifier's decision.</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example this is the case for True Positive. The orange/yellowish colored words influences towards positive hate speech class and blue colored words influences the model to predict it as not hate speech.</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7b7a5262f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a7b7a5262f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In the previous example there were very few blue colored words. In the case of this True negative example there are more blue colored words. Even though having more blue colored words the word harassment and today influenced the model towards hate. Clearly it is not.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7b7a5262f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a7b7a5262f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For false positives, the model sometimes flagged neutral text as hate. For example, the word "feminazi" triggered a misclassification even in a neutral context. This shows the model is overly sensitive to certain terms.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7b7a5262f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a7b7a5262f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For false negatives, interestingly, the model sometimes is more accurate than human annotators. The subjective nature of hate speech means a sentence that humans might call hateful could be contextually benign.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7b7a5262f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a7b7a5262f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paper makes four key contributions:</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Developed HSW2V—an unsupervised domain-specific embedding model specifically for hate speech</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Compared domain-specific vs. domain-agnostic embeddings systematically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BiLSTM with HSW2V achieves good performance compared to its small training data.</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972ee01b4_1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a972ee01b4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What's the takeaway? BERT provides superior performance because it's bidirectional and trained on massive data. But domain-specific embeddings have a unique advantage—they excel at detecting coded words and intentional misspellings that generic models miss.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size of the training corpus matters significantly for pre-trained models. And importantly, the best approach combines transfer learning with domain-specific knowledge—not one or the other.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authors conclude that it's valuable to build large pre-trained models from domain-specific content, especially for specialized tasks like hate speech detection.</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4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46"/>
          <p:cNvGrpSpPr/>
          <p:nvPr/>
        </p:nvGrpSpPr>
        <p:grpSpPr>
          <a:xfrm>
            <a:off x="830392" y="1191256"/>
            <a:ext cx="745763" cy="45826"/>
            <a:chOff x="4580561" y="2589004"/>
            <a:chExt cx="1064464" cy="25200"/>
          </a:xfrm>
        </p:grpSpPr>
        <p:sp>
          <p:nvSpPr>
            <p:cNvPr id="12" name="Google Shape;12;p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4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4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47"/>
          <p:cNvGrpSpPr/>
          <p:nvPr/>
        </p:nvGrpSpPr>
        <p:grpSpPr>
          <a:xfrm>
            <a:off x="830392" y="1191256"/>
            <a:ext cx="745763" cy="45826"/>
            <a:chOff x="4580561" y="2589004"/>
            <a:chExt cx="1064464" cy="25200"/>
          </a:xfrm>
        </p:grpSpPr>
        <p:sp>
          <p:nvSpPr>
            <p:cNvPr id="20" name="Google Shape;20;p4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4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4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8"/>
          <p:cNvGrpSpPr/>
          <p:nvPr/>
        </p:nvGrpSpPr>
        <p:grpSpPr>
          <a:xfrm>
            <a:off x="830392" y="1191256"/>
            <a:ext cx="745763" cy="45826"/>
            <a:chOff x="4580561" y="2589004"/>
            <a:chExt cx="1064464" cy="25200"/>
          </a:xfrm>
        </p:grpSpPr>
        <p:sp>
          <p:nvSpPr>
            <p:cNvPr id="27" name="Google Shape;27;p4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8"/>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4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49"/>
          <p:cNvGrpSpPr/>
          <p:nvPr/>
        </p:nvGrpSpPr>
        <p:grpSpPr>
          <a:xfrm>
            <a:off x="830392" y="1191256"/>
            <a:ext cx="745763" cy="45826"/>
            <a:chOff x="4580561" y="2589004"/>
            <a:chExt cx="1064464" cy="25200"/>
          </a:xfrm>
        </p:grpSpPr>
        <p:sp>
          <p:nvSpPr>
            <p:cNvPr id="34" name="Google Shape;34;p4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4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4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4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5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0"/>
          <p:cNvGrpSpPr/>
          <p:nvPr/>
        </p:nvGrpSpPr>
        <p:grpSpPr>
          <a:xfrm>
            <a:off x="830392" y="1191256"/>
            <a:ext cx="745763" cy="45826"/>
            <a:chOff x="4580561" y="2589004"/>
            <a:chExt cx="1064464" cy="25200"/>
          </a:xfrm>
        </p:grpSpPr>
        <p:sp>
          <p:nvSpPr>
            <p:cNvPr id="43" name="Google Shape;43;p5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5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51"/>
          <p:cNvGrpSpPr/>
          <p:nvPr/>
        </p:nvGrpSpPr>
        <p:grpSpPr>
          <a:xfrm>
            <a:off x="830392" y="1191256"/>
            <a:ext cx="745763" cy="45826"/>
            <a:chOff x="4580561" y="2589004"/>
            <a:chExt cx="1064464" cy="25200"/>
          </a:xfrm>
        </p:grpSpPr>
        <p:sp>
          <p:nvSpPr>
            <p:cNvPr id="50" name="Google Shape;50;p5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5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5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52"/>
          <p:cNvGrpSpPr/>
          <p:nvPr/>
        </p:nvGrpSpPr>
        <p:grpSpPr>
          <a:xfrm>
            <a:off x="830392" y="4169130"/>
            <a:ext cx="745763" cy="45826"/>
            <a:chOff x="4580561" y="2589004"/>
            <a:chExt cx="1064464" cy="25200"/>
          </a:xfrm>
        </p:grpSpPr>
        <p:sp>
          <p:nvSpPr>
            <p:cNvPr id="57" name="Google Shape;57;p5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5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5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5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53"/>
          <p:cNvGrpSpPr/>
          <p:nvPr/>
        </p:nvGrpSpPr>
        <p:grpSpPr>
          <a:xfrm>
            <a:off x="830392" y="1191256"/>
            <a:ext cx="745763" cy="45826"/>
            <a:chOff x="4580561" y="2589004"/>
            <a:chExt cx="1064464" cy="25200"/>
          </a:xfrm>
        </p:grpSpPr>
        <p:sp>
          <p:nvSpPr>
            <p:cNvPr id="64" name="Google Shape;64;p5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5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5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5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5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55"/>
          <p:cNvGrpSpPr/>
          <p:nvPr/>
        </p:nvGrpSpPr>
        <p:grpSpPr>
          <a:xfrm>
            <a:off x="830392" y="4169130"/>
            <a:ext cx="745763" cy="45826"/>
            <a:chOff x="4580561" y="2589004"/>
            <a:chExt cx="1064464" cy="25200"/>
          </a:xfrm>
        </p:grpSpPr>
        <p:sp>
          <p:nvSpPr>
            <p:cNvPr id="75" name="Google Shape;75;p5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5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5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7950" y="1403675"/>
            <a:ext cx="7688100" cy="1785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780"/>
              <a:buNone/>
            </a:pPr>
            <a:r>
              <a:rPr lang="en-US" sz="3080"/>
              <a:t>Detection of Hate Speech using BERT and Hate Speech</a:t>
            </a:r>
            <a:endParaRPr sz="3080"/>
          </a:p>
          <a:p>
            <a:pPr indent="0" lvl="0" marL="0" rtl="0" algn="ctr">
              <a:lnSpc>
                <a:spcPct val="100000"/>
              </a:lnSpc>
              <a:spcBef>
                <a:spcPts val="0"/>
              </a:spcBef>
              <a:spcAft>
                <a:spcPts val="0"/>
              </a:spcAft>
              <a:buSzPts val="3780"/>
              <a:buNone/>
            </a:pPr>
            <a:r>
              <a:rPr lang="en-US" sz="3080"/>
              <a:t>Word Embedding with Deep Model</a:t>
            </a:r>
            <a:endParaRPr sz="3080"/>
          </a:p>
        </p:txBody>
      </p:sp>
      <p:sp>
        <p:nvSpPr>
          <p:cNvPr id="87" name="Google Shape;87;p1"/>
          <p:cNvSpPr txBox="1"/>
          <p:nvPr>
            <p:ph idx="1" type="subTitle"/>
          </p:nvPr>
        </p:nvSpPr>
        <p:spPr>
          <a:xfrm>
            <a:off x="729450" y="3556375"/>
            <a:ext cx="7688100" cy="11619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600"/>
              <a:buNone/>
            </a:pPr>
            <a:r>
              <a:rPr lang="en-US"/>
              <a:t>Presented By </a:t>
            </a:r>
            <a:endParaRPr/>
          </a:p>
          <a:p>
            <a:pPr indent="0" lvl="0" marL="0" rtl="0" algn="l">
              <a:lnSpc>
                <a:spcPct val="100000"/>
              </a:lnSpc>
              <a:spcBef>
                <a:spcPts val="0"/>
              </a:spcBef>
              <a:spcAft>
                <a:spcPts val="0"/>
              </a:spcAft>
              <a:buSzPts val="1600"/>
              <a:buNone/>
            </a:pPr>
            <a:r>
              <a:rPr lang="en-US"/>
              <a:t>Refat Ishrak Hemel</a:t>
            </a:r>
            <a:endParaRPr/>
          </a:p>
          <a:p>
            <a:pPr indent="0" lvl="0" marL="0" rtl="0" algn="l">
              <a:lnSpc>
                <a:spcPct val="100000"/>
              </a:lnSpc>
              <a:spcBef>
                <a:spcPts val="0"/>
              </a:spcBef>
              <a:spcAft>
                <a:spcPts val="0"/>
              </a:spcAft>
              <a:buSzPts val="1600"/>
              <a:buNone/>
            </a:pPr>
            <a:r>
              <a:rPr lang="en-US"/>
              <a:t>ID: 3810002</a:t>
            </a:r>
            <a:endParaRPr/>
          </a:p>
        </p:txBody>
      </p:sp>
      <p:sp>
        <p:nvSpPr>
          <p:cNvPr id="88" name="Google Shape;88;p1"/>
          <p:cNvSpPr txBox="1"/>
          <p:nvPr>
            <p:ph idx="1" type="subTitle"/>
          </p:nvPr>
        </p:nvSpPr>
        <p:spPr>
          <a:xfrm>
            <a:off x="729450" y="2812325"/>
            <a:ext cx="7688100" cy="744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1600"/>
              <a:buNone/>
            </a:pPr>
            <a:r>
              <a:rPr lang="en-US"/>
              <a:t>Hind Saleh, Areej Alhothali, and Kawthar Moria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727650" y="60182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sz="2540"/>
              <a:t>Outlines:</a:t>
            </a:r>
            <a:endParaRPr sz="2540"/>
          </a:p>
        </p:txBody>
      </p:sp>
      <p:sp>
        <p:nvSpPr>
          <p:cNvPr id="94" name="Google Shape;94;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95" name="Google Shape;95;p2"/>
          <p:cNvSpPr txBox="1"/>
          <p:nvPr/>
        </p:nvSpPr>
        <p:spPr>
          <a:xfrm>
            <a:off x="727650" y="1351775"/>
            <a:ext cx="7808700" cy="3791700"/>
          </a:xfrm>
          <a:prstGeom prst="rect">
            <a:avLst/>
          </a:prstGeom>
          <a:noFill/>
          <a:ln>
            <a:noFill/>
          </a:ln>
        </p:spPr>
        <p:txBody>
          <a:bodyPr anchorCtr="0" anchor="t" bIns="91425" lIns="91425" spcFirstLastPara="1" rIns="91425" wrap="square" tIns="91425">
            <a:noAutofit/>
          </a:bodyPr>
          <a:lstStyle/>
          <a:p>
            <a:pPr indent="0" lvl="0" marL="0" marR="0" rtl="0" algn="l">
              <a:lnSpc>
                <a:spcPct val="200000"/>
              </a:lnSpc>
              <a:spcBef>
                <a:spcPts val="0"/>
              </a:spcBef>
              <a:spcAft>
                <a:spcPts val="0"/>
              </a:spcAft>
              <a:buClr>
                <a:srgbClr val="000000"/>
              </a:buClr>
              <a:buSzPts val="1600"/>
              <a:buFont typeface="Arial"/>
              <a:buNone/>
            </a:pPr>
            <a:r>
              <a:t/>
            </a:r>
            <a:endParaRPr b="0" i="0" sz="1600" u="none" cap="none" strike="noStrike">
              <a:solidFill>
                <a:schemeClr val="accent1"/>
              </a:solidFill>
              <a:latin typeface="Lato"/>
              <a:ea typeface="Lato"/>
              <a:cs typeface="Lato"/>
              <a:sym typeface="Lato"/>
            </a:endParaRPr>
          </a:p>
        </p:txBody>
      </p:sp>
      <p:sp>
        <p:nvSpPr>
          <p:cNvPr id="96" name="Google Shape;96;p2"/>
          <p:cNvSpPr txBox="1"/>
          <p:nvPr/>
        </p:nvSpPr>
        <p:spPr>
          <a:xfrm>
            <a:off x="727650" y="1398425"/>
            <a:ext cx="6188700" cy="3698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Problem Overview and Background</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Methodologies: Two Approaches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Experimental Results and Findings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Importance of Domain-Specific Embeddings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Explainability Analysis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Conclusion</a:t>
            </a:r>
            <a:endParaRPr sz="1800">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Why Hate Speech Detection?</a:t>
            </a:r>
            <a:endParaRPr>
              <a:solidFill>
                <a:schemeClr val="dk2"/>
              </a:solidFill>
            </a:endParaRPr>
          </a:p>
        </p:txBody>
      </p:sp>
      <p:sp>
        <p:nvSpPr>
          <p:cNvPr id="102" name="Google Shape;102;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03" name="Google Shape;103;p3"/>
          <p:cNvSpPr txBox="1"/>
          <p:nvPr/>
        </p:nvSpPr>
        <p:spPr>
          <a:xfrm>
            <a:off x="727650" y="1345665"/>
            <a:ext cx="7688700" cy="2385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23850" lvl="0" marL="457200" rtl="0" algn="l">
              <a:lnSpc>
                <a:spcPct val="200000"/>
              </a:lnSpc>
              <a:spcBef>
                <a:spcPts val="0"/>
              </a:spcBef>
              <a:spcAft>
                <a:spcPts val="0"/>
              </a:spcAft>
              <a:buSzPts val="1500"/>
              <a:buChar char="❏"/>
            </a:pPr>
            <a:r>
              <a:rPr lang="en-US" sz="1500"/>
              <a:t>60% of global population uses social media (4.54 billion)</a:t>
            </a:r>
            <a:endParaRPr sz="1500"/>
          </a:p>
          <a:p>
            <a:pPr indent="-323850" lvl="0" marL="457200" rtl="0" algn="l">
              <a:lnSpc>
                <a:spcPct val="200000"/>
              </a:lnSpc>
              <a:spcBef>
                <a:spcPts val="0"/>
              </a:spcBef>
              <a:spcAft>
                <a:spcPts val="0"/>
              </a:spcAft>
              <a:buSzPts val="1500"/>
              <a:buChar char="❏"/>
            </a:pPr>
            <a:r>
              <a:rPr lang="en-US" sz="1500"/>
              <a:t>53% of Americans encounter online harassment and hate</a:t>
            </a:r>
            <a:endParaRPr sz="1500"/>
          </a:p>
          <a:p>
            <a:pPr indent="-323850" lvl="0" marL="457200" rtl="0" algn="l">
              <a:lnSpc>
                <a:spcPct val="200000"/>
              </a:lnSpc>
              <a:spcBef>
                <a:spcPts val="0"/>
              </a:spcBef>
              <a:spcAft>
                <a:spcPts val="0"/>
              </a:spcAft>
              <a:buSzPts val="1500"/>
              <a:buChar char="❏"/>
            </a:pPr>
            <a:r>
              <a:rPr lang="en-US" sz="1500"/>
              <a:t>21% of students frequently encounter hate speech</a:t>
            </a:r>
            <a:endParaRPr sz="1500"/>
          </a:p>
          <a:p>
            <a:pPr indent="-323850" lvl="0" marL="457200" rtl="0" algn="l">
              <a:lnSpc>
                <a:spcPct val="200000"/>
              </a:lnSpc>
              <a:spcBef>
                <a:spcPts val="0"/>
              </a:spcBef>
              <a:spcAft>
                <a:spcPts val="0"/>
              </a:spcAft>
              <a:buSzPts val="1500"/>
              <a:buChar char="❏"/>
            </a:pPr>
            <a:r>
              <a:rPr lang="en-US" sz="1500"/>
              <a:t>Hate communities use coded words, abbreviations, misspellings to evade detection</a:t>
            </a:r>
            <a:endParaRPr sz="1500"/>
          </a:p>
          <a:p>
            <a:pPr indent="-323850" lvl="0" marL="457200" rtl="0" algn="l">
              <a:lnSpc>
                <a:spcPct val="200000"/>
              </a:lnSpc>
              <a:spcBef>
                <a:spcPts val="0"/>
              </a:spcBef>
              <a:spcAft>
                <a:spcPts val="0"/>
              </a:spcAft>
              <a:buSzPts val="1500"/>
              <a:buChar char="❏"/>
            </a:pPr>
            <a:r>
              <a:rPr lang="en-US" sz="1500"/>
              <a:t>Automatic detection is essential for safer digital environments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Detection Challenges</a:t>
            </a:r>
            <a:endParaRPr>
              <a:solidFill>
                <a:schemeClr val="dk2"/>
              </a:solidFill>
            </a:endParaRPr>
          </a:p>
        </p:txBody>
      </p:sp>
      <p:sp>
        <p:nvSpPr>
          <p:cNvPr id="109" name="Google Shape;109;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10" name="Google Shape;110;p4"/>
          <p:cNvSpPr txBox="1"/>
          <p:nvPr/>
        </p:nvSpPr>
        <p:spPr>
          <a:xfrm>
            <a:off x="727650" y="1540698"/>
            <a:ext cx="7476600" cy="1785600"/>
          </a:xfrm>
          <a:prstGeom prst="rect">
            <a:avLst/>
          </a:prstGeom>
          <a:noFill/>
          <a:ln>
            <a:noFill/>
          </a:ln>
        </p:spPr>
        <p:txBody>
          <a:bodyPr anchorCtr="0" anchor="t" bIns="45700" lIns="91425" spcFirstLastPara="1" rIns="91425" wrap="square" tIns="45700">
            <a:spAutoFit/>
          </a:bodyPr>
          <a:lstStyle/>
          <a:p>
            <a:pPr indent="-330200" lvl="0" marL="457200" rtl="0" algn="l">
              <a:lnSpc>
                <a:spcPct val="90000"/>
              </a:lnSpc>
              <a:spcBef>
                <a:spcPts val="0"/>
              </a:spcBef>
              <a:spcAft>
                <a:spcPts val="0"/>
              </a:spcAft>
              <a:buSzPts val="1600"/>
              <a:buChar char="❏"/>
            </a:pPr>
            <a:r>
              <a:rPr b="1" lang="en-US" sz="1500"/>
              <a:t>Coded Words:</a:t>
            </a:r>
            <a:r>
              <a:rPr lang="en-US" sz="1500"/>
              <a:t> Innocent words used maliciously (e.g., "Google" for dark-skinned people)</a:t>
            </a:r>
            <a:endParaRPr sz="1500"/>
          </a:p>
          <a:p>
            <a:pPr indent="-330200" lvl="0" marL="457200" rtl="0" algn="l">
              <a:lnSpc>
                <a:spcPct val="90000"/>
              </a:lnSpc>
              <a:spcBef>
                <a:spcPts val="0"/>
              </a:spcBef>
              <a:spcAft>
                <a:spcPts val="0"/>
              </a:spcAft>
              <a:buSzPts val="1600"/>
              <a:buChar char="❏"/>
            </a:pPr>
            <a:r>
              <a:rPr b="1" lang="en-US" sz="1500"/>
              <a:t>Intentional Misspellings:</a:t>
            </a:r>
            <a:r>
              <a:rPr lang="en-US" sz="1500"/>
              <a:t> f*ck, r*pe to evade automated filters</a:t>
            </a:r>
            <a:endParaRPr sz="1500"/>
          </a:p>
          <a:p>
            <a:pPr indent="-330200" lvl="0" marL="457200" rtl="0" algn="l">
              <a:lnSpc>
                <a:spcPct val="90000"/>
              </a:lnSpc>
              <a:spcBef>
                <a:spcPts val="0"/>
              </a:spcBef>
              <a:spcAft>
                <a:spcPts val="0"/>
              </a:spcAft>
              <a:buSzPts val="1600"/>
              <a:buChar char="❏"/>
            </a:pPr>
            <a:r>
              <a:rPr b="1" lang="en-US" sz="1500"/>
              <a:t>Abbreviations:</a:t>
            </a:r>
            <a:r>
              <a:rPr lang="en-US" sz="1500"/>
              <a:t> Commonly used by hate communities</a:t>
            </a:r>
            <a:endParaRPr sz="1500"/>
          </a:p>
          <a:p>
            <a:pPr indent="-330200" lvl="0" marL="457200" rtl="0" algn="l">
              <a:lnSpc>
                <a:spcPct val="90000"/>
              </a:lnSpc>
              <a:spcBef>
                <a:spcPts val="0"/>
              </a:spcBef>
              <a:spcAft>
                <a:spcPts val="0"/>
              </a:spcAft>
              <a:buSzPts val="1600"/>
              <a:buChar char="❏"/>
            </a:pPr>
            <a:r>
              <a:rPr b="1" lang="en-US" sz="1500"/>
              <a:t>Context Dependency:</a:t>
            </a:r>
            <a:r>
              <a:rPr lang="en-US" sz="1500"/>
              <a:t> Same words can be hateful or benign depending on context</a:t>
            </a:r>
            <a:endParaRPr sz="1500"/>
          </a:p>
          <a:p>
            <a:pPr indent="-330200" lvl="0" marL="457200" rtl="0" algn="l">
              <a:lnSpc>
                <a:spcPct val="90000"/>
              </a:lnSpc>
              <a:spcBef>
                <a:spcPts val="0"/>
              </a:spcBef>
              <a:spcAft>
                <a:spcPts val="0"/>
              </a:spcAft>
              <a:buSzPts val="1600"/>
              <a:buChar char="❏"/>
            </a:pPr>
            <a:r>
              <a:rPr b="1" lang="en-US" sz="1500"/>
              <a:t>Subjectivity:</a:t>
            </a:r>
            <a:r>
              <a:rPr lang="en-US" sz="1500"/>
              <a:t> Identifying hate speech is inherently subjective</a:t>
            </a:r>
            <a:endParaRPr b="1" sz="1600">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BACKGROUND</a:t>
            </a:r>
            <a:endParaRPr sz="2800">
              <a:latin typeface="Lato"/>
              <a:ea typeface="Lato"/>
              <a:cs typeface="Lato"/>
              <a:sym typeface="Lato"/>
            </a:endParaRPr>
          </a:p>
        </p:txBody>
      </p:sp>
      <p:sp>
        <p:nvSpPr>
          <p:cNvPr id="116" name="Google Shape;116;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17" name="Google Shape;117;p5"/>
          <p:cNvSpPr txBox="1"/>
          <p:nvPr>
            <p:ph idx="1" type="body"/>
          </p:nvPr>
        </p:nvSpPr>
        <p:spPr>
          <a:xfrm>
            <a:off x="727650" y="1493450"/>
            <a:ext cx="7515600" cy="3504600"/>
          </a:xfrm>
          <a:prstGeom prst="rect">
            <a:avLst/>
          </a:prstGeom>
          <a:noFill/>
          <a:ln>
            <a:noFill/>
          </a:ln>
        </p:spPr>
        <p:txBody>
          <a:bodyPr anchorCtr="0" anchor="t" bIns="91425" lIns="91425" spcFirstLastPara="1" rIns="91425" wrap="square" tIns="91425">
            <a:normAutofit/>
          </a:bodyPr>
          <a:lstStyle/>
          <a:p>
            <a:pPr indent="0" lvl="0" marL="0" rtl="0" algn="l">
              <a:lnSpc>
                <a:spcPct val="200000"/>
              </a:lnSpc>
              <a:spcBef>
                <a:spcPts val="600"/>
              </a:spcBef>
              <a:spcAft>
                <a:spcPts val="0"/>
              </a:spcAft>
              <a:buNone/>
            </a:pPr>
            <a:r>
              <a:rPr lang="en-US" sz="1500">
                <a:solidFill>
                  <a:srgbClr val="000000"/>
                </a:solidFill>
                <a:latin typeface="Roboto"/>
                <a:ea typeface="Roboto"/>
                <a:cs typeface="Roboto"/>
                <a:sym typeface="Roboto"/>
              </a:rPr>
              <a:t>Converts words into numerical vectors capturing semantic meaning and context</a:t>
            </a:r>
            <a:endParaRPr sz="1500">
              <a:solidFill>
                <a:srgbClr val="000000"/>
              </a:solidFill>
              <a:latin typeface="Roboto"/>
              <a:ea typeface="Roboto"/>
              <a:cs typeface="Roboto"/>
              <a:sym typeface="Roboto"/>
            </a:endParaRPr>
          </a:p>
          <a:p>
            <a:pPr indent="-323850" lvl="0" marL="457200" rtl="0" algn="l">
              <a:lnSpc>
                <a:spcPct val="200000"/>
              </a:lnSpc>
              <a:spcBef>
                <a:spcPts val="600"/>
              </a:spcBef>
              <a:spcAft>
                <a:spcPts val="0"/>
              </a:spcAft>
              <a:buClr>
                <a:srgbClr val="000000"/>
              </a:buClr>
              <a:buSzPts val="1500"/>
              <a:buFont typeface="Roboto"/>
              <a:buChar char="❏"/>
            </a:pPr>
            <a:r>
              <a:rPr lang="en-US" sz="1500">
                <a:solidFill>
                  <a:srgbClr val="000000"/>
                </a:solidFill>
                <a:latin typeface="Roboto"/>
                <a:ea typeface="Roboto"/>
                <a:cs typeface="Roboto"/>
                <a:sym typeface="Roboto"/>
              </a:rPr>
              <a:t>Word2Vec: Prediction-based model trained on massive corpus</a:t>
            </a:r>
            <a:endParaRPr sz="1500">
              <a:solidFill>
                <a:srgbClr val="000000"/>
              </a:solidFill>
              <a:latin typeface="Roboto"/>
              <a:ea typeface="Roboto"/>
              <a:cs typeface="Roboto"/>
              <a:sym typeface="Roboto"/>
            </a:endParaRPr>
          </a:p>
          <a:p>
            <a:pPr indent="-323850" lvl="0" marL="457200" rtl="0" algn="l">
              <a:lnSpc>
                <a:spcPct val="200000"/>
              </a:lnSpc>
              <a:spcBef>
                <a:spcPts val="0"/>
              </a:spcBef>
              <a:spcAft>
                <a:spcPts val="0"/>
              </a:spcAft>
              <a:buClr>
                <a:srgbClr val="000000"/>
              </a:buClr>
              <a:buSzPts val="1500"/>
              <a:buFont typeface="Roboto"/>
              <a:buChar char="❏"/>
            </a:pPr>
            <a:r>
              <a:rPr lang="en-US" sz="1500">
                <a:solidFill>
                  <a:srgbClr val="000000"/>
                </a:solidFill>
                <a:latin typeface="Roboto"/>
                <a:ea typeface="Roboto"/>
                <a:cs typeface="Roboto"/>
                <a:sym typeface="Roboto"/>
              </a:rPr>
              <a:t>GloVe: Count-based model using word co-occurrence statistics</a:t>
            </a:r>
            <a:endParaRPr sz="1500">
              <a:solidFill>
                <a:srgbClr val="000000"/>
              </a:solidFill>
              <a:latin typeface="Roboto"/>
              <a:ea typeface="Roboto"/>
              <a:cs typeface="Roboto"/>
              <a:sym typeface="Roboto"/>
            </a:endParaRPr>
          </a:p>
          <a:p>
            <a:pPr indent="-323850" lvl="0" marL="457200" rtl="0" algn="l">
              <a:lnSpc>
                <a:spcPct val="200000"/>
              </a:lnSpc>
              <a:spcBef>
                <a:spcPts val="0"/>
              </a:spcBef>
              <a:spcAft>
                <a:spcPts val="0"/>
              </a:spcAft>
              <a:buClr>
                <a:srgbClr val="000000"/>
              </a:buClr>
              <a:buSzPts val="1500"/>
              <a:buFont typeface="Roboto"/>
              <a:buChar char="❏"/>
            </a:pPr>
            <a:r>
              <a:rPr lang="en-US" sz="1500">
                <a:solidFill>
                  <a:srgbClr val="000000"/>
                </a:solidFill>
                <a:latin typeface="Roboto"/>
                <a:ea typeface="Roboto"/>
                <a:cs typeface="Roboto"/>
                <a:sym typeface="Roboto"/>
              </a:rPr>
              <a:t>Domain-Specific: Trained on hate speech data for contextual accuracy</a:t>
            </a:r>
            <a:endParaRPr sz="1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Approach 1: Domain-Specific BiLSTM</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23" name="Google Shape;123;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24" name="Google Shape;124;p8"/>
          <p:cNvSpPr txBox="1"/>
          <p:nvPr/>
        </p:nvSpPr>
        <p:spPr>
          <a:xfrm>
            <a:off x="727650" y="2114675"/>
            <a:ext cx="7688700" cy="14775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Data: 1,048,563 sentences from hate speech datasets + Twitter</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Feature: Domain-specific Word2Vec vectors (300-dimensional)</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Classifier: Bidirectional LSTM for context preservation</a:t>
            </a:r>
            <a:endParaRPr sz="1800">
              <a:latin typeface="Lato"/>
              <a:ea typeface="Lato"/>
              <a:cs typeface="Lato"/>
              <a:sym typeface="Lato"/>
            </a:endParaRPr>
          </a:p>
        </p:txBody>
      </p:sp>
      <p:sp>
        <p:nvSpPr>
          <p:cNvPr id="125" name="Google Shape;125;p8"/>
          <p:cNvSpPr txBox="1"/>
          <p:nvPr/>
        </p:nvSpPr>
        <p:spPr>
          <a:xfrm>
            <a:off x="679200" y="1441225"/>
            <a:ext cx="7785600" cy="415500"/>
          </a:xfrm>
          <a:prstGeom prst="rect">
            <a:avLst/>
          </a:prstGeom>
          <a:noFill/>
          <a:ln>
            <a:noFill/>
          </a:ln>
        </p:spPr>
        <p:txBody>
          <a:bodyPr anchorCtr="0" anchor="t" bIns="91425" lIns="91425" spcFirstLastPara="1" rIns="91425" wrap="square" tIns="91425">
            <a:spAutoFit/>
          </a:bodyPr>
          <a:lstStyle/>
          <a:p>
            <a:pPr indent="0" lvl="0" marL="0" rtl="0" algn="l">
              <a:lnSpc>
                <a:spcPct val="203636"/>
              </a:lnSpc>
              <a:spcBef>
                <a:spcPts val="0"/>
              </a:spcBef>
              <a:spcAft>
                <a:spcPts val="0"/>
              </a:spcAft>
              <a:buNone/>
            </a:pPr>
            <a:r>
              <a:rPr b="1" lang="en-US" sz="1500">
                <a:solidFill>
                  <a:schemeClr val="dk2"/>
                </a:solidFill>
                <a:latin typeface="Roboto"/>
                <a:ea typeface="Roboto"/>
                <a:cs typeface="Roboto"/>
                <a:sym typeface="Roboto"/>
              </a:rPr>
              <a:t>Key Innovation:</a:t>
            </a:r>
            <a:r>
              <a:rPr lang="en-US" sz="1500">
                <a:solidFill>
                  <a:schemeClr val="dk2"/>
                </a:solidFill>
                <a:latin typeface="Roboto"/>
                <a:ea typeface="Roboto"/>
                <a:cs typeface="Roboto"/>
                <a:sym typeface="Roboto"/>
              </a:rPr>
              <a:t> Custom hate speech embeddings (HSW2V) with BiLSTM classifier</a:t>
            </a:r>
            <a:endParaRPr sz="15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a972ee01b4_1_19"/>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Approach 2: BERT Transfer Learning</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31" name="Google Shape;131;g3a972ee01b4_1_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32" name="Google Shape;132;g3a972ee01b4_1_19"/>
          <p:cNvSpPr txBox="1"/>
          <p:nvPr/>
        </p:nvSpPr>
        <p:spPr>
          <a:xfrm>
            <a:off x="727650" y="2114675"/>
            <a:ext cx="7688700" cy="14775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Foundation: Trained on 3.4 billion+ words (Books Corpus + Wikipedia)</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Bidirectional: Reads context from both directions</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Fine-tuning: Adapted for hate speech binary classification</a:t>
            </a:r>
            <a:endParaRPr sz="1800">
              <a:latin typeface="Lato"/>
              <a:ea typeface="Lato"/>
              <a:cs typeface="Lato"/>
              <a:sym typeface="Lato"/>
            </a:endParaRPr>
          </a:p>
        </p:txBody>
      </p:sp>
      <p:sp>
        <p:nvSpPr>
          <p:cNvPr id="133" name="Google Shape;133;g3a972ee01b4_1_19"/>
          <p:cNvSpPr txBox="1"/>
          <p:nvPr/>
        </p:nvSpPr>
        <p:spPr>
          <a:xfrm>
            <a:off x="679200" y="1441225"/>
            <a:ext cx="7785600" cy="415500"/>
          </a:xfrm>
          <a:prstGeom prst="rect">
            <a:avLst/>
          </a:prstGeom>
          <a:noFill/>
          <a:ln>
            <a:noFill/>
          </a:ln>
        </p:spPr>
        <p:txBody>
          <a:bodyPr anchorCtr="0" anchor="t" bIns="91425" lIns="91425" spcFirstLastPara="1" rIns="91425" wrap="square" tIns="91425">
            <a:spAutoFit/>
          </a:bodyPr>
          <a:lstStyle/>
          <a:p>
            <a:pPr indent="0" lvl="0" marL="0" rtl="0" algn="l">
              <a:lnSpc>
                <a:spcPct val="203636"/>
              </a:lnSpc>
              <a:spcBef>
                <a:spcPts val="0"/>
              </a:spcBef>
              <a:spcAft>
                <a:spcPts val="0"/>
              </a:spcAft>
              <a:buNone/>
            </a:pPr>
            <a:r>
              <a:rPr b="1" lang="en-US" sz="1500">
                <a:solidFill>
                  <a:schemeClr val="dk2"/>
                </a:solidFill>
                <a:latin typeface="Roboto"/>
                <a:ea typeface="Roboto"/>
                <a:cs typeface="Roboto"/>
                <a:sym typeface="Roboto"/>
              </a:rPr>
              <a:t>Key Innovation: Pre-trained bidirectional transformers with fine-tuning</a:t>
            </a:r>
            <a:endParaRPr b="1" sz="15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Key Findings: Performance Comparison</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39" name="Google Shape;13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40" name="Google Shape;140;p9"/>
          <p:cNvSpPr txBox="1"/>
          <p:nvPr/>
        </p:nvSpPr>
        <p:spPr>
          <a:xfrm>
            <a:off x="727650" y="14549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Approach 1 (Domain-Specific BiLSTM)</a:t>
            </a:r>
            <a:endParaRPr sz="1350">
              <a:solidFill>
                <a:schemeClr val="dk2"/>
              </a:solidFill>
            </a:endParaRPr>
          </a:p>
        </p:txBody>
      </p:sp>
      <p:sp>
        <p:nvSpPr>
          <p:cNvPr id="141" name="Google Shape;141;p9"/>
          <p:cNvSpPr txBox="1"/>
          <p:nvPr/>
        </p:nvSpPr>
        <p:spPr>
          <a:xfrm>
            <a:off x="727650" y="178892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81%-95% F1-Score</a:t>
            </a:r>
            <a:endParaRPr sz="1350">
              <a:solidFill>
                <a:schemeClr val="dk2"/>
              </a:solidFill>
            </a:endParaRPr>
          </a:p>
        </p:txBody>
      </p:sp>
      <p:sp>
        <p:nvSpPr>
          <p:cNvPr id="142" name="Google Shape;142;p9"/>
          <p:cNvSpPr txBox="1"/>
          <p:nvPr/>
        </p:nvSpPr>
        <p:spPr>
          <a:xfrm>
            <a:off x="727650" y="21395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Excellent for detecting coded words and abbreviations</a:t>
            </a:r>
            <a:endParaRPr sz="1350">
              <a:solidFill>
                <a:schemeClr val="dk2"/>
              </a:solidFill>
            </a:endParaRPr>
          </a:p>
        </p:txBody>
      </p:sp>
      <p:sp>
        <p:nvSpPr>
          <p:cNvPr id="143" name="Google Shape;143;p9"/>
          <p:cNvSpPr txBox="1"/>
          <p:nvPr/>
        </p:nvSpPr>
        <p:spPr>
          <a:xfrm>
            <a:off x="727650" y="33023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Approach 2 (BERT)</a:t>
            </a:r>
            <a:endParaRPr sz="1350">
              <a:solidFill>
                <a:schemeClr val="dk2"/>
              </a:solidFill>
            </a:endParaRPr>
          </a:p>
        </p:txBody>
      </p:sp>
      <p:sp>
        <p:nvSpPr>
          <p:cNvPr id="144" name="Google Shape;144;p9"/>
          <p:cNvSpPr txBox="1"/>
          <p:nvPr/>
        </p:nvSpPr>
        <p:spPr>
          <a:xfrm>
            <a:off x="727650" y="363632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85%-</a:t>
            </a:r>
            <a:r>
              <a:rPr lang="en-US" sz="1350">
                <a:solidFill>
                  <a:schemeClr val="dk2"/>
                </a:solidFill>
              </a:rPr>
              <a:t>96% F1-Score</a:t>
            </a:r>
            <a:endParaRPr sz="1350">
              <a:solidFill>
                <a:schemeClr val="dk2"/>
              </a:solidFill>
            </a:endParaRPr>
          </a:p>
        </p:txBody>
      </p:sp>
      <p:sp>
        <p:nvSpPr>
          <p:cNvPr id="145" name="Google Shape;145;p9"/>
          <p:cNvSpPr txBox="1"/>
          <p:nvPr/>
        </p:nvSpPr>
        <p:spPr>
          <a:xfrm>
            <a:off x="727650" y="39869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Superior performance due to massive training corpus</a:t>
            </a:r>
            <a:endParaRPr sz="1350">
              <a:solidFill>
                <a:schemeClr val="dk2"/>
              </a:solidFill>
            </a:endParaRPr>
          </a:p>
        </p:txBody>
      </p:sp>
      <p:sp>
        <p:nvSpPr>
          <p:cNvPr id="146" name="Google Shape;146;p9"/>
          <p:cNvSpPr/>
          <p:nvPr/>
        </p:nvSpPr>
        <p:spPr>
          <a:xfrm>
            <a:off x="633600" y="1454975"/>
            <a:ext cx="7876800" cy="1170900"/>
          </a:xfrm>
          <a:prstGeom prst="round2DiagRect">
            <a:avLst>
              <a:gd fmla="val 16667" name="adj1"/>
              <a:gd fmla="val 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7" name="Google Shape;147;p9"/>
          <p:cNvSpPr/>
          <p:nvPr/>
        </p:nvSpPr>
        <p:spPr>
          <a:xfrm>
            <a:off x="633600" y="3247075"/>
            <a:ext cx="7876800" cy="1170900"/>
          </a:xfrm>
          <a:prstGeom prst="round2DiagRect">
            <a:avLst>
              <a:gd fmla="val 16667" name="adj1"/>
              <a:gd fmla="val 0"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4"/>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Why Domain-Specific Embeddings Matter</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53" name="Google Shape;153;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54" name="Google Shape;154;p14"/>
          <p:cNvSpPr txBox="1"/>
          <p:nvPr>
            <p:ph idx="1" type="body"/>
          </p:nvPr>
        </p:nvSpPr>
        <p:spPr>
          <a:xfrm>
            <a:off x="727650" y="1508100"/>
            <a:ext cx="7197600" cy="2127300"/>
          </a:xfrm>
          <a:prstGeom prst="rect">
            <a:avLst/>
          </a:prstGeom>
          <a:noFill/>
          <a:ln>
            <a:noFill/>
          </a:ln>
        </p:spPr>
        <p:txBody>
          <a:bodyPr anchorCtr="0" anchor="t" bIns="91425" lIns="91425" spcFirstLastPara="1" rIns="91425" wrap="square" tIns="91425">
            <a:normAutofit/>
          </a:bodyPr>
          <a:lstStyle/>
          <a:p>
            <a:pPr indent="-323850" lvl="0" marL="457200" rtl="0" algn="just">
              <a:lnSpc>
                <a:spcPct val="150000"/>
              </a:lnSpc>
              <a:spcBef>
                <a:spcPts val="1200"/>
              </a:spcBef>
              <a:spcAft>
                <a:spcPts val="0"/>
              </a:spcAft>
              <a:buClr>
                <a:srgbClr val="000000"/>
              </a:buClr>
              <a:buSzPts val="1500"/>
              <a:buChar char="❏"/>
            </a:pPr>
            <a:r>
              <a:rPr lang="en-US" sz="1500">
                <a:solidFill>
                  <a:srgbClr val="000000"/>
                </a:solidFill>
              </a:rPr>
              <a:t>Word2Vec: Failed to retrieve similar hate words</a:t>
            </a:r>
            <a:endParaRPr sz="1500">
              <a:solidFill>
                <a:srgbClr val="000000"/>
              </a:solidFill>
            </a:endParaRPr>
          </a:p>
          <a:p>
            <a:pPr indent="-323850" lvl="0" marL="457200" rtl="0" algn="just">
              <a:lnSpc>
                <a:spcPct val="150000"/>
              </a:lnSpc>
              <a:spcBef>
                <a:spcPts val="0"/>
              </a:spcBef>
              <a:spcAft>
                <a:spcPts val="0"/>
              </a:spcAft>
              <a:buClr>
                <a:srgbClr val="000000"/>
              </a:buClr>
              <a:buSzPts val="1500"/>
              <a:buChar char="❏"/>
            </a:pPr>
            <a:r>
              <a:rPr lang="en-US" sz="1500">
                <a:solidFill>
                  <a:srgbClr val="000000"/>
                </a:solidFill>
              </a:rPr>
              <a:t>GloVe: Retrieved irrelevant results (mostly diacritical marks)</a:t>
            </a:r>
            <a:endParaRPr sz="1500">
              <a:solidFill>
                <a:srgbClr val="000000"/>
              </a:solidFill>
            </a:endParaRPr>
          </a:p>
          <a:p>
            <a:pPr indent="-323850" lvl="0" marL="457200" rtl="0" algn="just">
              <a:lnSpc>
                <a:spcPct val="150000"/>
              </a:lnSpc>
              <a:spcBef>
                <a:spcPts val="0"/>
              </a:spcBef>
              <a:spcAft>
                <a:spcPts val="0"/>
              </a:spcAft>
              <a:buClr>
                <a:srgbClr val="000000"/>
              </a:buClr>
              <a:buSzPts val="1500"/>
              <a:buChar char="❏"/>
            </a:pPr>
            <a:r>
              <a:rPr lang="en-US" sz="1500">
                <a:solidFill>
                  <a:srgbClr val="000000"/>
                </a:solidFill>
              </a:rPr>
              <a:t>HSW2V (Ours): Successfully identified: fu*, lmfaoo, shii, fucc, noooo</a:t>
            </a:r>
            <a:endParaRPr sz="1500">
              <a:solidFill>
                <a:srgbClr val="000000"/>
              </a:solidFill>
            </a:endParaRPr>
          </a:p>
          <a:p>
            <a:pPr indent="-323850" lvl="0" marL="457200" rtl="0" algn="just">
              <a:lnSpc>
                <a:spcPct val="150000"/>
              </a:lnSpc>
              <a:spcBef>
                <a:spcPts val="0"/>
              </a:spcBef>
              <a:spcAft>
                <a:spcPts val="0"/>
              </a:spcAft>
              <a:buClr>
                <a:srgbClr val="000000"/>
              </a:buClr>
              <a:buSzPts val="1500"/>
              <a:buChar char="❏"/>
            </a:pPr>
            <a:r>
              <a:rPr lang="en-US" sz="1500">
                <a:solidFill>
                  <a:srgbClr val="000000"/>
                </a:solidFill>
              </a:rPr>
              <a:t>Insight: Domain-specific models capture hate community semantics</a:t>
            </a:r>
            <a:endParaRPr sz="1500">
              <a:solidFill>
                <a:srgbClr val="000000"/>
              </a:solidFill>
            </a:endParaRPr>
          </a:p>
        </p:txBody>
      </p:sp>
      <p:pic>
        <p:nvPicPr>
          <p:cNvPr id="155" name="Google Shape;155;p14"/>
          <p:cNvPicPr preferRelativeResize="0"/>
          <p:nvPr/>
        </p:nvPicPr>
        <p:blipFill>
          <a:blip r:embed="rId3">
            <a:alphaModFix/>
          </a:blip>
          <a:stretch>
            <a:fillRect/>
          </a:stretch>
        </p:blipFill>
        <p:spPr>
          <a:xfrm>
            <a:off x="0" y="3432711"/>
            <a:ext cx="9144003" cy="13171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61" name="Google Shape;161;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62" name="Google Shape;162;p16"/>
          <p:cNvPicPr preferRelativeResize="0"/>
          <p:nvPr/>
        </p:nvPicPr>
        <p:blipFill rotWithShape="1">
          <a:blip r:embed="rId3">
            <a:alphaModFix/>
          </a:blip>
          <a:srcRect b="8558" l="0" r="0" t="0"/>
          <a:stretch/>
        </p:blipFill>
        <p:spPr>
          <a:xfrm>
            <a:off x="727650" y="1441875"/>
            <a:ext cx="8006951" cy="3024912"/>
          </a:xfrm>
          <a:prstGeom prst="rect">
            <a:avLst/>
          </a:prstGeom>
          <a:noFill/>
          <a:ln>
            <a:noFill/>
          </a:ln>
        </p:spPr>
      </p:pic>
      <p:sp>
        <p:nvSpPr>
          <p:cNvPr id="163" name="Google Shape;163;p16"/>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True Positive</a:t>
            </a:r>
            <a:endParaRPr b="1" sz="1500">
              <a:solidFill>
                <a:schemeClr val="accent1"/>
              </a:solidFill>
              <a:latin typeface="Lato"/>
              <a:ea typeface="Lato"/>
              <a:cs typeface="Lato"/>
              <a:sym typeface="Lato"/>
            </a:endParaRPr>
          </a:p>
        </p:txBody>
      </p:sp>
      <p:sp>
        <p:nvSpPr>
          <p:cNvPr id="164" name="Google Shape;164;p16"/>
          <p:cNvSpPr/>
          <p:nvPr/>
        </p:nvSpPr>
        <p:spPr>
          <a:xfrm>
            <a:off x="2063975" y="1677263"/>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16"/>
          <p:cNvSpPr/>
          <p:nvPr/>
        </p:nvSpPr>
        <p:spPr>
          <a:xfrm>
            <a:off x="2017900" y="2424750"/>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16"/>
          <p:cNvSpPr/>
          <p:nvPr/>
        </p:nvSpPr>
        <p:spPr>
          <a:xfrm>
            <a:off x="6837825" y="1884575"/>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7" name="Google Shape;167;p16"/>
          <p:cNvSpPr/>
          <p:nvPr/>
        </p:nvSpPr>
        <p:spPr>
          <a:xfrm>
            <a:off x="5654475" y="1839050"/>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a7b7a5262f_0_33"/>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73" name="Google Shape;173;g3a7b7a5262f_0_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74" name="Google Shape;174;g3a7b7a5262f_0_33"/>
          <p:cNvPicPr preferRelativeResize="0"/>
          <p:nvPr/>
        </p:nvPicPr>
        <p:blipFill rotWithShape="1">
          <a:blip r:embed="rId3">
            <a:alphaModFix/>
          </a:blip>
          <a:srcRect b="7390" l="0" r="0" t="0"/>
          <a:stretch/>
        </p:blipFill>
        <p:spPr>
          <a:xfrm>
            <a:off x="727650" y="1287400"/>
            <a:ext cx="8231500" cy="3275174"/>
          </a:xfrm>
          <a:prstGeom prst="rect">
            <a:avLst/>
          </a:prstGeom>
          <a:noFill/>
          <a:ln>
            <a:noFill/>
          </a:ln>
        </p:spPr>
      </p:pic>
      <p:sp>
        <p:nvSpPr>
          <p:cNvPr id="175" name="Google Shape;175;g3a7b7a5262f_0_33"/>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True Negative</a:t>
            </a:r>
            <a:endParaRPr b="1" sz="15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7b7a5262f_0_21"/>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81" name="Google Shape;181;g3a7b7a5262f_0_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82" name="Google Shape;182;g3a7b7a5262f_0_21"/>
          <p:cNvPicPr preferRelativeResize="0"/>
          <p:nvPr/>
        </p:nvPicPr>
        <p:blipFill rotWithShape="1">
          <a:blip r:embed="rId3">
            <a:alphaModFix/>
          </a:blip>
          <a:srcRect b="10023" l="0" r="0" t="0"/>
          <a:stretch/>
        </p:blipFill>
        <p:spPr>
          <a:xfrm>
            <a:off x="727650" y="1289475"/>
            <a:ext cx="8006951" cy="2976501"/>
          </a:xfrm>
          <a:prstGeom prst="rect">
            <a:avLst/>
          </a:prstGeom>
          <a:noFill/>
          <a:ln>
            <a:noFill/>
          </a:ln>
        </p:spPr>
      </p:pic>
      <p:sp>
        <p:nvSpPr>
          <p:cNvPr id="183" name="Google Shape;183;g3a7b7a5262f_0_21"/>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False Positive</a:t>
            </a:r>
            <a:endParaRPr b="1" sz="15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a7b7a5262f_0_27"/>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89" name="Google Shape;189;g3a7b7a5262f_0_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90" name="Google Shape;190;g3a7b7a5262f_0_27"/>
          <p:cNvPicPr preferRelativeResize="0"/>
          <p:nvPr/>
        </p:nvPicPr>
        <p:blipFill rotWithShape="1">
          <a:blip r:embed="rId3">
            <a:alphaModFix/>
          </a:blip>
          <a:srcRect b="8340" l="0" r="0" t="0"/>
          <a:stretch/>
        </p:blipFill>
        <p:spPr>
          <a:xfrm>
            <a:off x="727650" y="1289475"/>
            <a:ext cx="8006951" cy="3032126"/>
          </a:xfrm>
          <a:prstGeom prst="rect">
            <a:avLst/>
          </a:prstGeom>
          <a:noFill/>
          <a:ln>
            <a:noFill/>
          </a:ln>
        </p:spPr>
      </p:pic>
      <p:sp>
        <p:nvSpPr>
          <p:cNvPr id="191" name="Google Shape;191;g3a7b7a5262f_0_27"/>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False Negetive</a:t>
            </a:r>
            <a:endParaRPr b="1" sz="15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a7b7a5262f_0_44"/>
          <p:cNvSpPr txBox="1"/>
          <p:nvPr>
            <p:ph idx="1" type="body"/>
          </p:nvPr>
        </p:nvSpPr>
        <p:spPr>
          <a:xfrm>
            <a:off x="651450" y="1643205"/>
            <a:ext cx="8126400" cy="2116800"/>
          </a:xfrm>
          <a:prstGeom prst="rect">
            <a:avLst/>
          </a:prstGeom>
          <a:noFill/>
          <a:ln>
            <a:noFill/>
          </a:ln>
        </p:spPr>
        <p:txBody>
          <a:bodyPr anchorCtr="0" anchor="t" bIns="91425" lIns="91425" spcFirstLastPara="1" rIns="91425" wrap="square" tIns="91425">
            <a:noAutofit/>
          </a:bodyPr>
          <a:lstStyle/>
          <a:p>
            <a:pPr indent="-323850" lvl="0" marL="457200" rtl="0" algn="l">
              <a:lnSpc>
                <a:spcPct val="200000"/>
              </a:lnSpc>
              <a:spcBef>
                <a:spcPts val="0"/>
              </a:spcBef>
              <a:spcAft>
                <a:spcPts val="0"/>
              </a:spcAft>
              <a:buClr>
                <a:schemeClr val="dk2"/>
              </a:buClr>
              <a:buSzPts val="1500"/>
              <a:buChar char="❏"/>
            </a:pPr>
            <a:r>
              <a:rPr lang="en-US" sz="1500">
                <a:solidFill>
                  <a:schemeClr val="dk2"/>
                </a:solidFill>
              </a:rPr>
              <a:t>Developed unsupervised domain-specific word embedding (HSW2V) for hate speech</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Compared domain-specific vs. domain-agnostic embeddings empirically</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BiLSTM with HSW2V: Achieves good performance compared to its small training data.</a:t>
            </a:r>
            <a:endParaRPr/>
          </a:p>
        </p:txBody>
      </p:sp>
      <p:sp>
        <p:nvSpPr>
          <p:cNvPr id="197" name="Google Shape;197;g3a7b7a5262f_0_44"/>
          <p:cNvSpPr txBox="1"/>
          <p:nvPr>
            <p:ph type="title"/>
          </p:nvPr>
        </p:nvSpPr>
        <p:spPr>
          <a:xfrm>
            <a:off x="6514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Research Contributions</a:t>
            </a:r>
            <a:endParaRPr/>
          </a:p>
          <a:p>
            <a:pPr indent="0" lvl="0" marL="0" rtl="0" algn="l">
              <a:lnSpc>
                <a:spcPct val="100000"/>
              </a:lnSpc>
              <a:spcBef>
                <a:spcPts val="0"/>
              </a:spcBef>
              <a:spcAft>
                <a:spcPts val="0"/>
              </a:spcAft>
              <a:buSzPct val="111111"/>
              <a:buNone/>
            </a:pPr>
            <a:r>
              <a:t/>
            </a:r>
            <a:endParaRPr/>
          </a:p>
        </p:txBody>
      </p:sp>
      <p:sp>
        <p:nvSpPr>
          <p:cNvPr id="198" name="Google Shape;198;g3a7b7a5262f_0_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a972ee01b4_1_56"/>
          <p:cNvSpPr txBox="1"/>
          <p:nvPr>
            <p:ph idx="1" type="body"/>
          </p:nvPr>
        </p:nvSpPr>
        <p:spPr>
          <a:xfrm>
            <a:off x="651450" y="1592805"/>
            <a:ext cx="8126400" cy="2409000"/>
          </a:xfrm>
          <a:prstGeom prst="rect">
            <a:avLst/>
          </a:prstGeom>
          <a:noFill/>
          <a:ln>
            <a:noFill/>
          </a:ln>
        </p:spPr>
        <p:txBody>
          <a:bodyPr anchorCtr="0" anchor="t" bIns="91425" lIns="91425" spcFirstLastPara="1" rIns="91425" wrap="square" tIns="91425">
            <a:noAutofit/>
          </a:bodyPr>
          <a:lstStyle/>
          <a:p>
            <a:pPr indent="-323850" lvl="0" marL="457200" rtl="0" algn="l">
              <a:lnSpc>
                <a:spcPct val="200000"/>
              </a:lnSpc>
              <a:spcBef>
                <a:spcPts val="0"/>
              </a:spcBef>
              <a:spcAft>
                <a:spcPts val="0"/>
              </a:spcAft>
              <a:buClr>
                <a:schemeClr val="dk2"/>
              </a:buClr>
              <a:buSzPts val="1500"/>
              <a:buChar char="❏"/>
            </a:pPr>
            <a:r>
              <a:rPr lang="en-US" sz="1500">
                <a:solidFill>
                  <a:schemeClr val="dk2"/>
                </a:solidFill>
              </a:rPr>
              <a:t>BERT provides superior feature extraction with pre-trained bidirectional context</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Domain-specific embeddings excel at detecting coded words and misspellings</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Large training corpus significantly improves pre-trained model performance</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Combining approaches yields best results: transfer learning + domain knowledge</a:t>
            </a:r>
            <a:endParaRPr sz="1500">
              <a:solidFill>
                <a:schemeClr val="dk2"/>
              </a:solidFill>
            </a:endParaRPr>
          </a:p>
          <a:p>
            <a:pPr indent="0" lvl="0" marL="146050" rtl="0" algn="l">
              <a:lnSpc>
                <a:spcPct val="100000"/>
              </a:lnSpc>
              <a:spcBef>
                <a:spcPts val="0"/>
              </a:spcBef>
              <a:spcAft>
                <a:spcPts val="0"/>
              </a:spcAft>
              <a:buSzPts val="1300"/>
              <a:buNone/>
            </a:pPr>
            <a:r>
              <a:t/>
            </a:r>
            <a:endParaRPr/>
          </a:p>
        </p:txBody>
      </p:sp>
      <p:sp>
        <p:nvSpPr>
          <p:cNvPr id="204" name="Google Shape;204;g3a972ee01b4_1_56"/>
          <p:cNvSpPr txBox="1"/>
          <p:nvPr>
            <p:ph type="title"/>
          </p:nvPr>
        </p:nvSpPr>
        <p:spPr>
          <a:xfrm>
            <a:off x="6514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Key Takeaways</a:t>
            </a:r>
            <a:endParaRPr/>
          </a:p>
          <a:p>
            <a:pPr indent="0" lvl="0" marL="0" rtl="0" algn="l">
              <a:lnSpc>
                <a:spcPct val="100000"/>
              </a:lnSpc>
              <a:spcBef>
                <a:spcPts val="0"/>
              </a:spcBef>
              <a:spcAft>
                <a:spcPts val="0"/>
              </a:spcAft>
              <a:buSzPct val="111111"/>
              <a:buNone/>
            </a:pPr>
            <a:r>
              <a:t/>
            </a:r>
            <a:endParaRPr/>
          </a:p>
        </p:txBody>
      </p:sp>
      <p:sp>
        <p:nvSpPr>
          <p:cNvPr id="205" name="Google Shape;205;g3a972ee01b4_1_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4"/>
          <p:cNvSpPr txBox="1"/>
          <p:nvPr>
            <p:ph type="title"/>
          </p:nvPr>
        </p:nvSpPr>
        <p:spPr>
          <a:xfrm>
            <a:off x="727650" y="23041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Thank you for your attention!</a:t>
            </a:r>
            <a:endParaRPr/>
          </a:p>
        </p:txBody>
      </p:sp>
      <p:sp>
        <p:nvSpPr>
          <p:cNvPr id="211" name="Google Shape;211;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