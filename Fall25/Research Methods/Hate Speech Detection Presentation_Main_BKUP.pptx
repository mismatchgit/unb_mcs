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embeddedFontLst>
    <p:embeddedFont>
      <p:font typeface="Raleway"/>
      <p:regular r:id="rId23"/>
      <p:bold r:id="rId24"/>
      <p:italic r:id="rId25"/>
      <p:boldItalic r:id="rId26"/>
    </p:embeddedFont>
    <p:embeddedFont>
      <p:font typeface="Lato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31" roundtripDataSignature="AMtx7mg4OpBcy+DKeN6ktiz9S9JZ+2+Kz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Raleway-bold.fntdata"/><Relationship Id="rId23" Type="http://schemas.openxmlformats.org/officeDocument/2006/relationships/font" Target="fonts/Raleway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aleway-boldItalic.fntdata"/><Relationship Id="rId25" Type="http://schemas.openxmlformats.org/officeDocument/2006/relationships/font" Target="fonts/Raleway-italic.fntdata"/><Relationship Id="rId28" Type="http://schemas.openxmlformats.org/officeDocument/2006/relationships/font" Target="fonts/Lato-bold.fntdata"/><Relationship Id="rId27" Type="http://schemas.openxmlformats.org/officeDocument/2006/relationships/font" Target="fonts/Lat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a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customschemas.google.com/relationships/presentationmetadata" Target="metadata"/><Relationship Id="rId30" Type="http://schemas.openxmlformats.org/officeDocument/2006/relationships/font" Target="fonts/La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a7b7a5262f_0_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g3a7b7a5262f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a7b7a5262f_0_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g3a7b7a5262f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a7b7a5262f_0_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g3a7b7a5262f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a7b7a5262f_0_4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g3a7b7a5262f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4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" name="Google Shape;11;p4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4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4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" name="Google Shape;14;p46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46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4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" name="Google Shape;19;p4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0" name="Google Shape;20;p4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4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" name="Google Shape;22;p4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3" name="Google Shape;23;p4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4" name="Google Shape;24;p4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oogle Shape;26;p4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7" name="Google Shape;27;p4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4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" name="Google Shape;29;p48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" name="Google Shape;30;p4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9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" name="Google Shape;33;p4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4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4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" name="Google Shape;36;p49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49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49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4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0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2" name="Google Shape;42;p50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5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5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5" name="Google Shape;45;p50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5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1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" name="Google Shape;49;p51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5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5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" name="Google Shape;52;p51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51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52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5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5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" name="Google Shape;59;p52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5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3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3" name="Google Shape;63;p5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5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5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" name="Google Shape;66;p53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53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53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5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4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5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55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5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5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7" name="Google Shape;77;p55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55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5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4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"/>
          <p:cNvSpPr txBox="1"/>
          <p:nvPr>
            <p:ph type="ctrTitle"/>
          </p:nvPr>
        </p:nvSpPr>
        <p:spPr>
          <a:xfrm>
            <a:off x="727950" y="1403675"/>
            <a:ext cx="7688100" cy="17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80"/>
              <a:buNone/>
            </a:pPr>
            <a:r>
              <a:rPr lang="en-US" sz="3080"/>
              <a:t>Detection of Hate Speech using BERT and Hate Speech</a:t>
            </a:r>
            <a:endParaRPr sz="308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80"/>
              <a:buNone/>
            </a:pPr>
            <a:r>
              <a:rPr lang="en-US" sz="3080"/>
              <a:t>Word Embedding with Deep Model</a:t>
            </a:r>
            <a:endParaRPr sz="3080"/>
          </a:p>
        </p:txBody>
      </p:sp>
      <p:sp>
        <p:nvSpPr>
          <p:cNvPr id="87" name="Google Shape;87;p1"/>
          <p:cNvSpPr txBox="1"/>
          <p:nvPr>
            <p:ph idx="1" type="subTitle"/>
          </p:nvPr>
        </p:nvSpPr>
        <p:spPr>
          <a:xfrm>
            <a:off x="729450" y="3556375"/>
            <a:ext cx="7688100" cy="116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/>
              <a:t>Presented By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/>
              <a:t>Refat Ishrak Hemel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/>
              <a:t>ID: 3810002</a:t>
            </a:r>
            <a:endParaRPr/>
          </a:p>
        </p:txBody>
      </p:sp>
      <p:sp>
        <p:nvSpPr>
          <p:cNvPr id="88" name="Google Shape;88;p1"/>
          <p:cNvSpPr txBox="1"/>
          <p:nvPr>
            <p:ph idx="1" type="subTitle"/>
          </p:nvPr>
        </p:nvSpPr>
        <p:spPr>
          <a:xfrm>
            <a:off x="729450" y="2812325"/>
            <a:ext cx="7688100" cy="7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/>
              <a:t>Hind Saleh, Areej Alhothalib, and Kawthar Moriab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 txBox="1"/>
          <p:nvPr>
            <p:ph type="title"/>
          </p:nvPr>
        </p:nvSpPr>
        <p:spPr>
          <a:xfrm>
            <a:off x="727650" y="60182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-US" sz="2540"/>
              <a:t>Outlines:</a:t>
            </a:r>
            <a:endParaRPr sz="2540"/>
          </a:p>
        </p:txBody>
      </p:sp>
      <p:sp>
        <p:nvSpPr>
          <p:cNvPr id="94" name="Google Shape;94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 sz="900"/>
              <a:t>‹#›</a:t>
            </a:fld>
            <a:endParaRPr sz="900"/>
          </a:p>
        </p:txBody>
      </p:sp>
      <p:sp>
        <p:nvSpPr>
          <p:cNvPr id="95" name="Google Shape;95;p2"/>
          <p:cNvSpPr txBox="1"/>
          <p:nvPr/>
        </p:nvSpPr>
        <p:spPr>
          <a:xfrm>
            <a:off x="727650" y="1351775"/>
            <a:ext cx="7808700" cy="37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6" name="Google Shape;96;p2"/>
          <p:cNvSpPr txBox="1"/>
          <p:nvPr/>
        </p:nvSpPr>
        <p:spPr>
          <a:xfrm>
            <a:off x="727650" y="1398425"/>
            <a:ext cx="6188700" cy="36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Lato"/>
              <a:buChar char="❏"/>
            </a:pPr>
            <a:r>
              <a:rPr lang="en-US" sz="1800">
                <a:latin typeface="Lato"/>
                <a:ea typeface="Lato"/>
                <a:cs typeface="Lato"/>
                <a:sym typeface="Lato"/>
              </a:rPr>
              <a:t>Problem Overview and Background</a:t>
            </a:r>
            <a:endParaRPr sz="1800">
              <a:latin typeface="Lato"/>
              <a:ea typeface="Lato"/>
              <a:cs typeface="Lato"/>
              <a:sym typeface="Lato"/>
            </a:endParaRPr>
          </a:p>
          <a:p>
            <a:pPr indent="-3556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Lato"/>
              <a:buChar char="❏"/>
            </a:pPr>
            <a:r>
              <a:rPr lang="en-US" sz="1800">
                <a:latin typeface="Lato"/>
                <a:ea typeface="Lato"/>
                <a:cs typeface="Lato"/>
                <a:sym typeface="Lato"/>
              </a:rPr>
              <a:t>Methodologies: Two Approaches</a:t>
            </a:r>
            <a:endParaRPr sz="1800">
              <a:latin typeface="Lato"/>
              <a:ea typeface="Lato"/>
              <a:cs typeface="Lato"/>
              <a:sym typeface="Lato"/>
            </a:endParaRPr>
          </a:p>
          <a:p>
            <a:pPr indent="-3556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Lato"/>
              <a:buChar char="❏"/>
            </a:pPr>
            <a:r>
              <a:rPr lang="en-US" sz="1800">
                <a:latin typeface="Lato"/>
                <a:ea typeface="Lato"/>
                <a:cs typeface="Lato"/>
                <a:sym typeface="Lato"/>
              </a:rPr>
              <a:t>Experimental Results and Findings</a:t>
            </a:r>
            <a:endParaRPr sz="1800">
              <a:latin typeface="Lato"/>
              <a:ea typeface="Lato"/>
              <a:cs typeface="Lato"/>
              <a:sym typeface="Lato"/>
            </a:endParaRPr>
          </a:p>
          <a:p>
            <a:pPr indent="-3556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Lato"/>
              <a:buChar char="❏"/>
            </a:pPr>
            <a:r>
              <a:rPr lang="en-US" sz="1800">
                <a:latin typeface="Lato"/>
                <a:ea typeface="Lato"/>
                <a:cs typeface="Lato"/>
                <a:sym typeface="Lato"/>
              </a:rPr>
              <a:t>Importance of Domain-Specific Embeddings</a:t>
            </a:r>
            <a:endParaRPr sz="1800">
              <a:latin typeface="Lato"/>
              <a:ea typeface="Lato"/>
              <a:cs typeface="Lato"/>
              <a:sym typeface="Lato"/>
            </a:endParaRPr>
          </a:p>
          <a:p>
            <a:pPr indent="-3556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Lato"/>
              <a:buChar char="❏"/>
            </a:pPr>
            <a:r>
              <a:rPr lang="en-US" sz="1800">
                <a:latin typeface="Lato"/>
                <a:ea typeface="Lato"/>
                <a:cs typeface="Lato"/>
                <a:sym typeface="Lato"/>
              </a:rPr>
              <a:t>Explainability Analysis</a:t>
            </a:r>
            <a:endParaRPr sz="1800">
              <a:latin typeface="Lato"/>
              <a:ea typeface="Lato"/>
              <a:cs typeface="Lato"/>
              <a:sym typeface="Lato"/>
            </a:endParaRPr>
          </a:p>
          <a:p>
            <a:pPr indent="-3556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Lato"/>
              <a:buChar char="❏"/>
            </a:pPr>
            <a:r>
              <a:rPr lang="en-US" sz="1800">
                <a:latin typeface="Lato"/>
                <a:ea typeface="Lato"/>
                <a:cs typeface="Lato"/>
                <a:sym typeface="Lato"/>
              </a:rPr>
              <a:t>Conclusion and Future Work</a:t>
            </a:r>
            <a:endParaRPr sz="18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/>
          <p:cNvSpPr txBox="1"/>
          <p:nvPr>
            <p:ph type="title"/>
          </p:nvPr>
        </p:nvSpPr>
        <p:spPr>
          <a:xfrm>
            <a:off x="727650" y="60187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3173"/>
              <a:buNone/>
            </a:pPr>
            <a:r>
              <a:rPr lang="en-US" sz="2800">
                <a:latin typeface="Lato"/>
                <a:ea typeface="Lato"/>
                <a:cs typeface="Lato"/>
                <a:sym typeface="Lato"/>
              </a:rPr>
              <a:t>Overview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2" name="Google Shape;10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 sz="900"/>
              <a:t>‹#›</a:t>
            </a:fld>
            <a:endParaRPr sz="900"/>
          </a:p>
        </p:txBody>
      </p:sp>
      <p:sp>
        <p:nvSpPr>
          <p:cNvPr id="103" name="Google Shape;103;p3"/>
          <p:cNvSpPr txBox="1"/>
          <p:nvPr/>
        </p:nvSpPr>
        <p:spPr>
          <a:xfrm>
            <a:off x="727650" y="1345665"/>
            <a:ext cx="7688700" cy="28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Rise of social Media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Concern about mental health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use abbreviations, intentional spelling mistakes, and coded words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Word representation plays a pivotal role.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investigates the feasibility of leveraging domain-specific word embedding as features and a bidirectional LSTM-based deep model as a classifier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investigate the use of the transfer </a:t>
            </a:r>
            <a:r>
              <a:rPr lang="en-US"/>
              <a:t>l</a:t>
            </a:r>
            <a:r>
              <a:rPr lang="en-US"/>
              <a:t>earning language model (BERT)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The experiments showed that domain-specific word embedding with the bidirectional LSTM-based deep model achieved a 93% F1 score, while BERT achieved a 96% F1 score on a combined balanced dataset from available hate speech datasets.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The first approach was very helpful to detect coded words, while the second approach achieved better performance because it is trained on much larger data.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"/>
          <p:cNvSpPr txBox="1"/>
          <p:nvPr>
            <p:ph type="title"/>
          </p:nvPr>
        </p:nvSpPr>
        <p:spPr>
          <a:xfrm>
            <a:off x="727650" y="60187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3173"/>
              <a:buNone/>
            </a:pPr>
            <a:r>
              <a:rPr lang="en-US" sz="2800">
                <a:latin typeface="Lato"/>
                <a:ea typeface="Lato"/>
                <a:cs typeface="Lato"/>
                <a:sym typeface="Lato"/>
              </a:rPr>
              <a:t>Overview (cont.)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 sz="900"/>
              <a:t>‹#›</a:t>
            </a:fld>
            <a:endParaRPr sz="900"/>
          </a:p>
        </p:txBody>
      </p:sp>
      <p:sp>
        <p:nvSpPr>
          <p:cNvPr id="110" name="Google Shape;110;p4"/>
          <p:cNvSpPr txBox="1"/>
          <p:nvPr/>
        </p:nvSpPr>
        <p:spPr>
          <a:xfrm>
            <a:off x="727650" y="1540698"/>
            <a:ext cx="74766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Importance contribution of this Survey Paper</a:t>
            </a:r>
            <a:endParaRPr sz="1600"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600"/>
          </a:p>
          <a:p>
            <a:pPr indent="-342900" lvl="0" marL="8001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arenR"/>
            </a:pPr>
            <a:r>
              <a:rPr b="0" i="0" lang="en-US" sz="16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00">
                <a:latin typeface="Lato"/>
                <a:ea typeface="Lato"/>
                <a:cs typeface="Lato"/>
                <a:sym typeface="Lato"/>
              </a:rPr>
              <a:t>An unsupervised domain-specific word embedding model was developed</a:t>
            </a:r>
            <a:r>
              <a:rPr b="0" i="0" lang="en-US" sz="16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  <a:p>
            <a:pPr indent="-342900" lvl="0" marL="8001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arenR"/>
            </a:pPr>
            <a:r>
              <a:rPr lang="en-US" sz="1600">
                <a:latin typeface="Lato"/>
                <a:ea typeface="Lato"/>
                <a:cs typeface="Lato"/>
                <a:sym typeface="Lato"/>
              </a:rPr>
              <a:t>A comparison between the domain-specific and domain-agnostic embedding was provided.</a:t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pPr indent="-342900" lvl="0" marL="8001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arenR"/>
            </a:pPr>
            <a:r>
              <a:rPr b="0" i="0" lang="en-US" sz="16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00">
                <a:latin typeface="Lato"/>
                <a:ea typeface="Lato"/>
                <a:cs typeface="Lato"/>
                <a:sym typeface="Lato"/>
              </a:rPr>
              <a:t>BiLSTM-based deep model with domain-specific embeddings shows an improvement ranging from 5 to 6 points on available datasets over the state-of-the-art techniques.</a:t>
            </a:r>
            <a:endParaRPr sz="16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"/>
          <p:cNvSpPr txBox="1"/>
          <p:nvPr>
            <p:ph type="title"/>
          </p:nvPr>
        </p:nvSpPr>
        <p:spPr>
          <a:xfrm>
            <a:off x="727650" y="60187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3173"/>
              <a:buNone/>
            </a:pPr>
            <a:r>
              <a:rPr lang="en-US" sz="2800">
                <a:latin typeface="Lato"/>
                <a:ea typeface="Lato"/>
                <a:cs typeface="Lato"/>
                <a:sym typeface="Lato"/>
              </a:rPr>
              <a:t>BACKGROUND</a:t>
            </a:r>
            <a:endParaRPr sz="28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6" name="Google Shape;116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 sz="900"/>
              <a:t>‹#›</a:t>
            </a:fld>
            <a:endParaRPr sz="900"/>
          </a:p>
        </p:txBody>
      </p:sp>
      <p:sp>
        <p:nvSpPr>
          <p:cNvPr id="117" name="Google Shape;117;p5"/>
          <p:cNvSpPr txBox="1"/>
          <p:nvPr>
            <p:ph idx="1" type="body"/>
          </p:nvPr>
        </p:nvSpPr>
        <p:spPr>
          <a:xfrm>
            <a:off x="727650" y="1493450"/>
            <a:ext cx="7515600" cy="35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AutoNum type="arabicParenR"/>
            </a:pPr>
            <a:r>
              <a:rPr lang="en-US" sz="1800">
                <a:solidFill>
                  <a:srgbClr val="000000"/>
                </a:solidFill>
              </a:rPr>
              <a:t> </a:t>
            </a:r>
            <a:r>
              <a:rPr lang="en-US" sz="1800">
                <a:solidFill>
                  <a:srgbClr val="000000"/>
                </a:solidFill>
              </a:rPr>
              <a:t>Word Embedding</a:t>
            </a:r>
            <a:endParaRPr sz="1800">
              <a:solidFill>
                <a:srgbClr val="000000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</a:rPr>
              <a:t>	Word embedding (Bengio et al. 2003) is a prominent natural language processing (NLP) technique that seeks to convey the semantic meaning of a word.</a:t>
            </a:r>
            <a:endParaRPr sz="1800">
              <a:solidFill>
                <a:srgbClr val="000000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</a:rPr>
              <a:t>1.1) Word2vec</a:t>
            </a:r>
            <a:endParaRPr sz="1800">
              <a:solidFill>
                <a:srgbClr val="000000"/>
              </a:solidFill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</a:rPr>
              <a:t>1.2) GloVe</a:t>
            </a:r>
            <a:endParaRPr sz="1800">
              <a:solidFill>
                <a:srgbClr val="000000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 sz="18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"/>
          <p:cNvSpPr txBox="1"/>
          <p:nvPr>
            <p:ph type="title"/>
          </p:nvPr>
        </p:nvSpPr>
        <p:spPr>
          <a:xfrm>
            <a:off x="727650" y="60187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3173"/>
              <a:buNone/>
            </a:pPr>
            <a:r>
              <a:rPr lang="en-US" sz="2800">
                <a:latin typeface="Lato"/>
                <a:ea typeface="Lato"/>
                <a:cs typeface="Lato"/>
                <a:sym typeface="Lato"/>
              </a:rPr>
              <a:t>BACKGROUND (cont.)</a:t>
            </a:r>
            <a:endParaRPr sz="28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3" name="Google Shape;123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 sz="900"/>
              <a:t>‹#›</a:t>
            </a:fld>
            <a:endParaRPr sz="900"/>
          </a:p>
        </p:txBody>
      </p:sp>
      <p:sp>
        <p:nvSpPr>
          <p:cNvPr id="124" name="Google Shape;124;p6"/>
          <p:cNvSpPr txBox="1"/>
          <p:nvPr>
            <p:ph idx="1" type="body"/>
          </p:nvPr>
        </p:nvSpPr>
        <p:spPr>
          <a:xfrm>
            <a:off x="727650" y="1493450"/>
            <a:ext cx="7515600" cy="35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en-US" sz="1800">
                <a:solidFill>
                  <a:srgbClr val="000000"/>
                </a:solidFill>
              </a:rPr>
              <a:t>2) BiLSTM</a:t>
            </a:r>
            <a:endParaRPr sz="1800">
              <a:solidFill>
                <a:srgbClr val="000000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</a:rPr>
              <a:t>3) BERT</a:t>
            </a:r>
            <a:endParaRPr sz="180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8"/>
          <p:cNvSpPr txBox="1"/>
          <p:nvPr>
            <p:ph type="title"/>
          </p:nvPr>
        </p:nvSpPr>
        <p:spPr>
          <a:xfrm>
            <a:off x="727650" y="60187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3173"/>
              <a:buNone/>
            </a:pPr>
            <a:r>
              <a:rPr lang="en-US" sz="2800">
                <a:latin typeface="Lato"/>
                <a:ea typeface="Lato"/>
                <a:cs typeface="Lato"/>
                <a:sym typeface="Lato"/>
              </a:rPr>
              <a:t>Methodologies</a:t>
            </a:r>
            <a:endParaRPr sz="28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0" name="Google Shape;13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 sz="900"/>
              <a:t>‹#›</a:t>
            </a:fld>
            <a:endParaRPr sz="900"/>
          </a:p>
        </p:txBody>
      </p:sp>
      <p:sp>
        <p:nvSpPr>
          <p:cNvPr id="131" name="Google Shape;131;p8"/>
          <p:cNvSpPr txBox="1"/>
          <p:nvPr/>
        </p:nvSpPr>
        <p:spPr>
          <a:xfrm>
            <a:off x="727650" y="1651001"/>
            <a:ext cx="61305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arenR"/>
            </a:pPr>
            <a:r>
              <a:rPr b="0" i="0" lang="en-US" sz="18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>
                <a:latin typeface="Lato"/>
                <a:ea typeface="Lato"/>
                <a:cs typeface="Lato"/>
                <a:sym typeface="Lato"/>
              </a:rPr>
              <a:t>Approach 1: Domain-Specific Embedding Features with BiLstm Based Deep</a:t>
            </a:r>
            <a:endParaRPr sz="1800">
              <a:latin typeface="Lato"/>
              <a:ea typeface="Lato"/>
              <a:cs typeface="Lato"/>
              <a:sym typeface="Lato"/>
            </a:endParaRPr>
          </a:p>
          <a:p>
            <a:pPr indent="-342900" lvl="0" marL="3429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arenR"/>
            </a:pPr>
            <a:r>
              <a:rPr lang="en-US" sz="1800">
                <a:latin typeface="Lato"/>
                <a:ea typeface="Lato"/>
                <a:cs typeface="Lato"/>
                <a:sym typeface="Lato"/>
              </a:rPr>
              <a:t>Approach 2: BERT Language Model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9"/>
          <p:cNvSpPr txBox="1"/>
          <p:nvPr>
            <p:ph type="title"/>
          </p:nvPr>
        </p:nvSpPr>
        <p:spPr>
          <a:xfrm>
            <a:off x="727650" y="60187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3173"/>
              <a:buNone/>
            </a:pPr>
            <a:r>
              <a:rPr lang="en-US" sz="2800">
                <a:latin typeface="Lato"/>
                <a:ea typeface="Lato"/>
                <a:cs typeface="Lato"/>
                <a:sym typeface="Lato"/>
              </a:rPr>
              <a:t>Experiment and Results</a:t>
            </a:r>
            <a:endParaRPr sz="28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7" name="Google Shape;137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 sz="900"/>
              <a:t>‹#›</a:t>
            </a:fld>
            <a:endParaRPr sz="900"/>
          </a:p>
        </p:txBody>
      </p:sp>
      <p:sp>
        <p:nvSpPr>
          <p:cNvPr id="138" name="Google Shape;138;p9"/>
          <p:cNvSpPr txBox="1"/>
          <p:nvPr/>
        </p:nvSpPr>
        <p:spPr>
          <a:xfrm>
            <a:off x="727650" y="1630631"/>
            <a:ext cx="4572000" cy="22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arenR"/>
            </a:pPr>
            <a:r>
              <a:rPr b="0" i="0" lang="en-US" sz="20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 </a:t>
            </a:r>
            <a:r>
              <a:rPr lang="en-US" sz="2000">
                <a:latin typeface="Lato"/>
                <a:ea typeface="Lato"/>
                <a:cs typeface="Lato"/>
                <a:sym typeface="Lato"/>
              </a:rPr>
              <a:t>Datasets</a:t>
            </a:r>
            <a:endParaRPr/>
          </a:p>
          <a:p>
            <a:pPr indent="-457200" lvl="1" marL="9144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lphaLcParenR"/>
            </a:pPr>
            <a:r>
              <a:rPr lang="en-US" sz="2000">
                <a:latin typeface="Lato"/>
                <a:ea typeface="Lato"/>
                <a:cs typeface="Lato"/>
                <a:sym typeface="Lato"/>
              </a:rPr>
              <a:t>Davidson-ICWSM</a:t>
            </a:r>
            <a:endParaRPr/>
          </a:p>
          <a:p>
            <a:pPr indent="-457200" lvl="1" marL="9144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lphaLcParenR"/>
            </a:pPr>
            <a:r>
              <a:rPr lang="en-US" sz="2000">
                <a:latin typeface="Lato"/>
                <a:ea typeface="Lato"/>
                <a:cs typeface="Lato"/>
                <a:sym typeface="Lato"/>
              </a:rPr>
              <a:t>Waseem-EMNLP</a:t>
            </a:r>
            <a:endParaRPr/>
          </a:p>
          <a:p>
            <a:pPr indent="-457200" lvl="1" marL="9144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lphaLcParenR"/>
            </a:pPr>
            <a:r>
              <a:rPr lang="en-US" sz="2000">
                <a:latin typeface="Lato"/>
                <a:ea typeface="Lato"/>
                <a:cs typeface="Lato"/>
                <a:sym typeface="Lato"/>
              </a:rPr>
              <a:t>Waseem-NAACL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0"/>
          <p:cNvSpPr txBox="1"/>
          <p:nvPr>
            <p:ph type="title"/>
          </p:nvPr>
        </p:nvSpPr>
        <p:spPr>
          <a:xfrm>
            <a:off x="727650" y="60187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03173"/>
              <a:buNone/>
            </a:pPr>
            <a:r>
              <a:rPr lang="en-US" sz="2800">
                <a:latin typeface="Lato"/>
                <a:ea typeface="Lato"/>
                <a:cs typeface="Lato"/>
                <a:sym typeface="Lato"/>
              </a:rPr>
              <a:t>Experiment and Results</a:t>
            </a:r>
            <a:endParaRPr sz="28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4" name="Google Shape;144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 sz="900"/>
              <a:t>‹#›</a:t>
            </a:fld>
            <a:endParaRPr sz="900"/>
          </a:p>
        </p:txBody>
      </p:sp>
      <p:sp>
        <p:nvSpPr>
          <p:cNvPr id="145" name="Google Shape;145;p10"/>
          <p:cNvSpPr txBox="1"/>
          <p:nvPr>
            <p:ph idx="1" type="body"/>
          </p:nvPr>
        </p:nvSpPr>
        <p:spPr>
          <a:xfrm>
            <a:off x="727650" y="1240850"/>
            <a:ext cx="7858200" cy="39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AutoNum type="arabicParenR"/>
            </a:pPr>
            <a:r>
              <a:rPr lang="en-US" sz="1800">
                <a:solidFill>
                  <a:srgbClr val="000000"/>
                </a:solidFill>
              </a:rPr>
              <a:t> Approach 1</a:t>
            </a:r>
            <a:endParaRPr sz="1800">
              <a:solidFill>
                <a:srgbClr val="000000"/>
              </a:solidFill>
            </a:endParaRPr>
          </a:p>
          <a:p>
            <a:pPr indent="-355600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AutoNum type="alphaLcParenR"/>
            </a:pPr>
            <a:r>
              <a:t/>
            </a:r>
            <a:endParaRPr sz="1800">
              <a:solidFill>
                <a:srgbClr val="000000"/>
              </a:solidFill>
            </a:endParaRPr>
          </a:p>
        </p:txBody>
      </p:sp>
      <p:pic>
        <p:nvPicPr>
          <p:cNvPr id="146" name="Google Shape;146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4675" y="601881"/>
            <a:ext cx="7858200" cy="44985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2"/>
          <p:cNvSpPr txBox="1"/>
          <p:nvPr>
            <p:ph type="title"/>
          </p:nvPr>
        </p:nvSpPr>
        <p:spPr>
          <a:xfrm>
            <a:off x="727650" y="60187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03173"/>
              <a:buNone/>
            </a:pPr>
            <a:r>
              <a:rPr lang="en-US" sz="2800">
                <a:latin typeface="Lato"/>
                <a:ea typeface="Lato"/>
                <a:cs typeface="Lato"/>
                <a:sym typeface="Lato"/>
              </a:rPr>
              <a:t>Experiment and Results</a:t>
            </a:r>
            <a:endParaRPr sz="2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3173"/>
              <a:buNone/>
            </a:pPr>
            <a:r>
              <a:t/>
            </a:r>
            <a:endParaRPr sz="28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2" name="Google Shape;152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 sz="900"/>
              <a:t>‹#›</a:t>
            </a:fld>
            <a:endParaRPr sz="900"/>
          </a:p>
        </p:txBody>
      </p:sp>
      <p:sp>
        <p:nvSpPr>
          <p:cNvPr id="153" name="Google Shape;153;p12"/>
          <p:cNvSpPr txBox="1"/>
          <p:nvPr>
            <p:ph idx="1" type="body"/>
          </p:nvPr>
        </p:nvSpPr>
        <p:spPr>
          <a:xfrm>
            <a:off x="642900" y="1240751"/>
            <a:ext cx="7858200" cy="39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AutoNum type="arabicParenR"/>
            </a:pPr>
            <a:r>
              <a:rPr lang="en-US" sz="1800">
                <a:solidFill>
                  <a:srgbClr val="000000"/>
                </a:solidFill>
              </a:rPr>
              <a:t>Approach 2</a:t>
            </a:r>
            <a:endParaRPr sz="1800">
              <a:solidFill>
                <a:srgbClr val="000000"/>
              </a:solidFill>
            </a:endParaRPr>
          </a:p>
        </p:txBody>
      </p:sp>
      <p:pic>
        <p:nvPicPr>
          <p:cNvPr id="154" name="Google Shape;154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833949"/>
            <a:ext cx="9144003" cy="22190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4"/>
          <p:cNvSpPr txBox="1"/>
          <p:nvPr>
            <p:ph type="title"/>
          </p:nvPr>
        </p:nvSpPr>
        <p:spPr>
          <a:xfrm>
            <a:off x="727650" y="60187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3173"/>
              <a:buNone/>
            </a:pPr>
            <a:r>
              <a:rPr lang="en-US" sz="2800">
                <a:latin typeface="Lato"/>
                <a:ea typeface="Lato"/>
                <a:cs typeface="Lato"/>
                <a:sym typeface="Lato"/>
              </a:rPr>
              <a:t>Importance of Domain-Specific Embeddings</a:t>
            </a:r>
            <a:endParaRPr sz="2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3173"/>
              <a:buNone/>
            </a:pPr>
            <a:r>
              <a:t/>
            </a:r>
            <a:endParaRPr sz="28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0" name="Google Shape;160;p1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 sz="900"/>
              <a:t>‹#›</a:t>
            </a:fld>
            <a:endParaRPr sz="900"/>
          </a:p>
        </p:txBody>
      </p:sp>
      <p:sp>
        <p:nvSpPr>
          <p:cNvPr id="161" name="Google Shape;161;p14"/>
          <p:cNvSpPr txBox="1"/>
          <p:nvPr>
            <p:ph idx="1" type="body"/>
          </p:nvPr>
        </p:nvSpPr>
        <p:spPr>
          <a:xfrm>
            <a:off x="7450" y="1137075"/>
            <a:ext cx="9011100" cy="39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</a:rPr>
              <a:t>We applied word similarity, which finds the closest word to the input word according to the cosine distance between them. Table 5 shows the result of applying word similarity to an intentionally misspelled word that is commonly used by the hate community (fc*). As shown in the table, domain-agnostic embedding models failed to retrieve similar words, while our HSW2 V was able to retrieve other intentionally misspelled words that were close in meaning to the input word.</a:t>
            </a:r>
            <a:endParaRPr sz="2000">
              <a:solidFill>
                <a:srgbClr val="000000"/>
              </a:solidFill>
            </a:endParaRPr>
          </a:p>
        </p:txBody>
      </p:sp>
      <p:pic>
        <p:nvPicPr>
          <p:cNvPr id="162" name="Google Shape;1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9000" y="3839103"/>
            <a:ext cx="9144001" cy="13043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6"/>
          <p:cNvSpPr txBox="1"/>
          <p:nvPr>
            <p:ph type="title"/>
          </p:nvPr>
        </p:nvSpPr>
        <p:spPr>
          <a:xfrm>
            <a:off x="727650" y="60187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3173"/>
              <a:buNone/>
            </a:pPr>
            <a:r>
              <a:rPr lang="en-US" sz="2800">
                <a:latin typeface="Lato"/>
                <a:ea typeface="Lato"/>
                <a:cs typeface="Lato"/>
                <a:sym typeface="Lato"/>
              </a:rPr>
              <a:t>Explainability Analysis</a:t>
            </a:r>
            <a:endParaRPr sz="28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8" name="Google Shape;168;p1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 sz="900"/>
              <a:t>‹#›</a:t>
            </a:fld>
            <a:endParaRPr sz="900"/>
          </a:p>
        </p:txBody>
      </p:sp>
      <p:pic>
        <p:nvPicPr>
          <p:cNvPr id="169" name="Google Shape;16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7650" y="1441875"/>
            <a:ext cx="8006938" cy="3307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a7b7a5262f_0_33"/>
          <p:cNvSpPr txBox="1"/>
          <p:nvPr>
            <p:ph type="title"/>
          </p:nvPr>
        </p:nvSpPr>
        <p:spPr>
          <a:xfrm>
            <a:off x="727650" y="60187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3173"/>
              <a:buNone/>
            </a:pPr>
            <a:r>
              <a:rPr lang="en-US" sz="2800">
                <a:latin typeface="Lato"/>
                <a:ea typeface="Lato"/>
                <a:cs typeface="Lato"/>
                <a:sym typeface="Lato"/>
              </a:rPr>
              <a:t>Explainability Analysis</a:t>
            </a:r>
            <a:endParaRPr sz="28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5" name="Google Shape;175;g3a7b7a5262f_0_3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 sz="900"/>
              <a:t>‹#›</a:t>
            </a:fld>
            <a:endParaRPr sz="900"/>
          </a:p>
        </p:txBody>
      </p:sp>
      <p:pic>
        <p:nvPicPr>
          <p:cNvPr id="176" name="Google Shape;176;g3a7b7a5262f_0_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7650" y="1287400"/>
            <a:ext cx="8231500" cy="35364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a7b7a5262f_0_21"/>
          <p:cNvSpPr txBox="1"/>
          <p:nvPr>
            <p:ph type="title"/>
          </p:nvPr>
        </p:nvSpPr>
        <p:spPr>
          <a:xfrm>
            <a:off x="727650" y="60187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3173"/>
              <a:buNone/>
            </a:pPr>
            <a:r>
              <a:rPr lang="en-US" sz="2800">
                <a:latin typeface="Lato"/>
                <a:ea typeface="Lato"/>
                <a:cs typeface="Lato"/>
                <a:sym typeface="Lato"/>
              </a:rPr>
              <a:t>Explainability Analysis</a:t>
            </a:r>
            <a:endParaRPr sz="28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2" name="Google Shape;182;g3a7b7a5262f_0_2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 sz="900"/>
              <a:t>‹#›</a:t>
            </a:fld>
            <a:endParaRPr sz="900"/>
          </a:p>
        </p:txBody>
      </p:sp>
      <p:pic>
        <p:nvPicPr>
          <p:cNvPr id="183" name="Google Shape;183;g3a7b7a5262f_0_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7650" y="1289475"/>
            <a:ext cx="8006938" cy="3307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a7b7a5262f_0_27"/>
          <p:cNvSpPr txBox="1"/>
          <p:nvPr>
            <p:ph type="title"/>
          </p:nvPr>
        </p:nvSpPr>
        <p:spPr>
          <a:xfrm>
            <a:off x="727650" y="60187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3173"/>
              <a:buNone/>
            </a:pPr>
            <a:r>
              <a:rPr lang="en-US" sz="2800">
                <a:latin typeface="Lato"/>
                <a:ea typeface="Lato"/>
                <a:cs typeface="Lato"/>
                <a:sym typeface="Lato"/>
              </a:rPr>
              <a:t>Explainability Analysis</a:t>
            </a:r>
            <a:endParaRPr sz="28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9" name="Google Shape;189;g3a7b7a5262f_0_2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 sz="900"/>
              <a:t>‹#›</a:t>
            </a:fld>
            <a:endParaRPr sz="900"/>
          </a:p>
        </p:txBody>
      </p:sp>
      <p:pic>
        <p:nvPicPr>
          <p:cNvPr id="190" name="Google Shape;190;g3a7b7a5262f_0_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7650" y="1289475"/>
            <a:ext cx="8006938" cy="3307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a7b7a5262f_0_44"/>
          <p:cNvSpPr txBox="1"/>
          <p:nvPr>
            <p:ph idx="1" type="body"/>
          </p:nvPr>
        </p:nvSpPr>
        <p:spPr>
          <a:xfrm>
            <a:off x="538080" y="1351687"/>
            <a:ext cx="8126400" cy="37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460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/>
              <a:t>To conclude, BERT design provides an appropriate feature extraction and</a:t>
            </a:r>
            <a:endParaRPr/>
          </a:p>
          <a:p>
            <a:pPr indent="0" lvl="0" marL="1460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/>
              <a:t>classification procedure for hate speech detection. BERT combines the benefits</a:t>
            </a:r>
            <a:endParaRPr/>
          </a:p>
          <a:p>
            <a:pPr indent="0" lvl="0" marL="1460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/>
              <a:t>of domain-agnostic and domain-specific word embedding by training the</a:t>
            </a:r>
            <a:endParaRPr/>
          </a:p>
          <a:p>
            <a:pPr indent="0" lvl="0" marL="1460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/>
              <a:t>model on vast data and then adding an extra layer to train on domain-</a:t>
            </a:r>
            <a:endParaRPr/>
          </a:p>
          <a:p>
            <a:pPr indent="0" lvl="0" marL="1460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/>
              <a:t>specific data (fine-tuning). BERT also saves effort and time in building an</a:t>
            </a:r>
            <a:endParaRPr/>
          </a:p>
          <a:p>
            <a:pPr indent="0" lvl="0" marL="1460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/>
              <a:t>embedding model from scratch. However, domain-specific word embedding</a:t>
            </a:r>
            <a:endParaRPr/>
          </a:p>
          <a:p>
            <a:pPr indent="0" lvl="0" marL="1460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/>
              <a:t>overcomes the BERT model in that it can detect hate terms and abbreviations</a:t>
            </a:r>
            <a:endParaRPr/>
          </a:p>
          <a:p>
            <a:pPr indent="0" lvl="0" marL="1460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/>
              <a:t>and intentionally misspell meanings. One of the challenges that we faced</a:t>
            </a:r>
            <a:endParaRPr/>
          </a:p>
          <a:p>
            <a:pPr indent="0" lvl="0" marL="1460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/>
              <a:t>during the experiments is that identifying hate speech is a highly subjective</a:t>
            </a:r>
            <a:endParaRPr/>
          </a:p>
          <a:p>
            <a:pPr indent="0" lvl="0" marL="1460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/>
              <a:t>task in which the machine may also encounter some difficulties in the detection.</a:t>
            </a:r>
            <a:endParaRPr/>
          </a:p>
          <a:p>
            <a:pPr indent="0" lvl="0" marL="1460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/>
              <a:t>The impact of this paper is mainly proven by experiments that BERT</a:t>
            </a:r>
            <a:endParaRPr/>
          </a:p>
          <a:p>
            <a:pPr indent="0" lvl="0" marL="1460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/>
              <a:t>Model provides acceptable performance in dealing with a hate speech problem.</a:t>
            </a:r>
            <a:endParaRPr/>
          </a:p>
          <a:p>
            <a:pPr indent="0" lvl="0" marL="1460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/>
              <a:t>This paper could be used for comparison for future work studies,</a:t>
            </a:r>
            <a:endParaRPr/>
          </a:p>
          <a:p>
            <a:pPr indent="0" lvl="0" marL="1460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/>
              <a:t>especially after changing hate speech policies on Twitter. This study can be</a:t>
            </a:r>
            <a:endParaRPr/>
          </a:p>
          <a:p>
            <a:pPr indent="0" lvl="0" marL="1460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/>
              <a:t>extended to detect multi-class hate speech for future work.</a:t>
            </a:r>
            <a:endParaRPr/>
          </a:p>
        </p:txBody>
      </p:sp>
      <p:sp>
        <p:nvSpPr>
          <p:cNvPr id="196" name="Google Shape;196;g3a7b7a5262f_0_44"/>
          <p:cNvSpPr txBox="1"/>
          <p:nvPr>
            <p:ph type="title"/>
          </p:nvPr>
        </p:nvSpPr>
        <p:spPr>
          <a:xfrm>
            <a:off x="651450" y="60187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/>
              <a:t>Conclusion</a:t>
            </a:r>
            <a:endParaRPr/>
          </a:p>
        </p:txBody>
      </p:sp>
      <p:sp>
        <p:nvSpPr>
          <p:cNvPr id="197" name="Google Shape;197;g3a7b7a5262f_0_4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44"/>
          <p:cNvSpPr txBox="1"/>
          <p:nvPr>
            <p:ph idx="1" type="body"/>
          </p:nvPr>
        </p:nvSpPr>
        <p:spPr>
          <a:xfrm>
            <a:off x="538080" y="1351687"/>
            <a:ext cx="8126400" cy="37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460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/>
              <a:t>[1] Li, Y., Guo, Z., Yang, N., Chen, H., Yuan, D., &amp; Ding, W. (2024). Threats and Defenses in Federated Learning Life Cycle: A Comprehensive Survey and Challenges. arXiv preprint arXiv:2407.06754.</a:t>
            </a:r>
            <a:endParaRPr/>
          </a:p>
        </p:txBody>
      </p:sp>
      <p:sp>
        <p:nvSpPr>
          <p:cNvPr id="203" name="Google Shape;203;p44"/>
          <p:cNvSpPr txBox="1"/>
          <p:nvPr>
            <p:ph type="title"/>
          </p:nvPr>
        </p:nvSpPr>
        <p:spPr>
          <a:xfrm>
            <a:off x="651450" y="60187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/>
              <a:t>References</a:t>
            </a:r>
            <a:endParaRPr/>
          </a:p>
        </p:txBody>
      </p:sp>
      <p:sp>
        <p:nvSpPr>
          <p:cNvPr id="204" name="Google Shape;204;p4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